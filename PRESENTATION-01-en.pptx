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>
                <a:solidFill>
                  <a:srgbClr val="FFFFFF"/>
                </a:solidFill>
              </a:rPr>
              <a:t>Branch 01</a:t>
            </a:r>
          </a:p>
          <a:p>
            <a:pPr algn="ctr"/>
            <a:r>
              <a:rPr b="1" sz="4400">
                <a:solidFill>
                  <a:srgbClr val="FFFFFF"/>
                </a:solidFill>
              </a:rPr>
              <a:t>Basic Kafka in Docker</a:t>
            </a:r>
          </a:p>
          <a:p>
            <a:pPr algn="ctr">
              <a:spcBef>
                <a:spcPts val="1800"/>
              </a:spcBef>
            </a:pPr>
            <a:r>
              <a:rPr b="1" sz="2400">
                <a:solidFill>
                  <a:srgbClr val="D4D4D4"/>
                </a:solidFill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2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1. What is Apache Kafka?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2. Architecture — Order → Kafka → Notification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3. KRaft mode — Kafka without Zookeeper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4. Producer — </a:t>
            </a:r>
            <a:r>
              <a:rPr sz="2000">
                <a:solidFill>
                  <a:srgbClr val="111111"/>
                </a:solidFill>
                <a:latin typeface="Courier New"/>
              </a:rPr>
              <a:t>KafkaTemplate.send()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5. Topic — the channel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6. Consumer — </a:t>
            </a:r>
            <a:r>
              <a:rPr sz="2000">
                <a:solidFill>
                  <a:srgbClr val="111111"/>
                </a:solidFill>
                <a:latin typeface="Courier New"/>
              </a:rPr>
              <a:t>@KafkaListener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7. Consumer Group &amp; Offset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8. JSON Serialization — two separate models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9. Summary &amp; 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What is Apache Kafka?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2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A distributed event streaming platform</a:t>
            </a:r>
          </a:p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Messages are written to a </a:t>
            </a:r>
            <a:r>
              <a:rPr b="1" sz="2200">
                <a:solidFill>
                  <a:srgbClr val="111111"/>
                </a:solidFill>
              </a:rPr>
              <a:t>topic</a:t>
            </a:r>
            <a:r>
              <a:rPr sz="2200">
                <a:solidFill>
                  <a:srgbClr val="111111"/>
                </a:solidFill>
              </a:rPr>
              <a:t> (an ordered, persistent log)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Any number of </a:t>
            </a:r>
            <a:r>
              <a:rPr b="1" sz="2200">
                <a:solidFill>
                  <a:srgbClr val="111111"/>
                </a:solidFill>
              </a:rPr>
              <a:t>consumers</a:t>
            </a:r>
            <a:r>
              <a:rPr sz="2200">
                <a:solidFill>
                  <a:srgbClr val="111111"/>
                </a:solidFill>
              </a:rPr>
              <a:t> can read from the same topic independently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Messages are </a:t>
            </a:r>
            <a:r>
              <a:rPr b="1" sz="2200">
                <a:solidFill>
                  <a:srgbClr val="111111"/>
                </a:solidFill>
              </a:rPr>
              <a:t>not deleted</a:t>
            </a:r>
            <a:r>
              <a:rPr sz="2200">
                <a:solidFill>
                  <a:srgbClr val="111111"/>
                </a:solidFill>
              </a:rPr>
              <a:t> after reading — they live until retention expires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Designed for </a:t>
            </a:r>
            <a:r>
              <a:rPr b="1" sz="2200">
                <a:solidFill>
                  <a:srgbClr val="111111"/>
                </a:solidFill>
              </a:rPr>
              <a:t>high throughput</a:t>
            </a:r>
            <a:r>
              <a:rPr sz="2200">
                <a:solidFill>
                  <a:srgbClr val="111111"/>
                </a:solidFill>
              </a:rPr>
              <a:t> and </a:t>
            </a:r>
            <a:r>
              <a:rPr b="1" sz="2200">
                <a:solidFill>
                  <a:srgbClr val="111111"/>
                </a:solidFill>
              </a:rPr>
              <a:t>fault tolerance</a:t>
            </a:r>
          </a:p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1000"/>
              </a:spcBef>
            </a:pPr>
            <a:r>
              <a:t/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6588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356588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65732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Kafka is not a message queue — it is a </a:t>
            </a:r>
            <a:r>
              <a:rPr b="1" sz="2000" i="1">
                <a:solidFill>
                  <a:srgbClr val="16213E"/>
                </a:solidFill>
              </a:rPr>
              <a:t>distributed commit log</a:t>
            </a:r>
            <a:r>
              <a:rPr sz="2000" i="1">
                <a:solidFill>
                  <a:srgbClr val="16213E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6020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416020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5164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Consumers read at their own pace and never block each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Architecture — Branch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5880"/>
            <a:ext cx="11091672" cy="4892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63040"/>
            <a:ext cx="1090879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4D4D4"/>
                </a:solidFill>
                <a:latin typeface="Courier New"/>
              </a:rPr>
              <a:t>POST /api/orders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▼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┌─────────────────┐   topic: 01.orders.created   ┌──────────────────────────┐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│  order-service  │  ─────────────────────────▶  │  notification-service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│  :8081          │        (JSON message)         │  :8082             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└─────────────────┘                               └──────────────────────────┘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│                                              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└────────────────────┬───────────────────────────────┘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     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┌──────────▼──────────┐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│    Apache Kafka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│    (KRaft mode)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│       :9092  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└──────────┬──────────┘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     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┌──────────▼──────────┐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│      Kafka UI 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│       :8080  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     └─────────────────────┘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KRaft Mode — Kafka Without Zookeeper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Apache Kafka 3.3+ replaces Zookeeper with its own Raft consensus</a:t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5880"/>
            <a:ext cx="11091672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3040"/>
            <a:ext cx="109087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4D4D4"/>
                </a:solidFill>
                <a:latin typeface="Courier New"/>
              </a:rPr>
              <a:t>Old setup (pre-3.3):          New setup (KRaft):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┌───────────┐                 ┌───────────────────────┐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│ Zookeeper │ ← extra process │  Kafka (broker +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│  :2181    │                 │   controller in one)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└───────────┘                 │   PROCESS_ROLES=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┌───────────┐                 │   broker,controller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│  Kafka    │                 └───────────────────────┘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│  :9092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└───────────┘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54760"/>
            <a:ext cx="11091672" cy="1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Simpler</a:t>
            </a:r>
            <a:r>
              <a:rPr sz="2200">
                <a:solidFill>
                  <a:srgbClr val="111111"/>
                </a:solidFill>
              </a:rPr>
              <a:t> — one process instead of two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Faster</a:t>
            </a:r>
            <a:r>
              <a:rPr sz="2200">
                <a:solidFill>
                  <a:srgbClr val="111111"/>
                </a:solidFill>
              </a:rPr>
              <a:t> startup and shutdown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Required</a:t>
            </a:r>
            <a:r>
              <a:rPr sz="2200">
                <a:solidFill>
                  <a:srgbClr val="111111"/>
                </a:solidFill>
              </a:rPr>
              <a:t> from Kafka 4.0 — Zookeeper is completely removed</a:t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1476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551476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0620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From Kafka 4.0 KRaft is the </a:t>
            </a:r>
            <a:r>
              <a:rPr b="1" sz="2000" i="1">
                <a:solidFill>
                  <a:srgbClr val="16213E"/>
                </a:solidFill>
              </a:rPr>
              <a:t>only</a:t>
            </a:r>
            <a:r>
              <a:rPr sz="2000" i="1">
                <a:solidFill>
                  <a:srgbClr val="16213E"/>
                </a:solidFill>
              </a:rPr>
              <a:t> option.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10908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610908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20052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Learn it now — it is what production clusters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Topic — The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A topic is a named, ordered, persistent log of messages</a:t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5880"/>
            <a:ext cx="11091672" cy="1691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3040"/>
            <a:ext cx="109087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4D4D4"/>
                </a:solidFill>
                <a:latin typeface="Courier New"/>
              </a:rPr>
              <a:t>topic: 01.orders.created   (1 partition, retention: 7 days)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partition 0: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[offset=0] OrderCreatedEvent { orderId=..., userId="user-42", ... }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[offset=1] OrderCreatedEvent { orderId=..., userId="user-99", ... }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[offset=2] OrderCreatedEvent { ...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68960"/>
            <a:ext cx="11091672" cy="1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Created automatically via a Spring </a:t>
            </a:r>
            <a:r>
              <a:rPr b="1" sz="2200">
                <a:solidFill>
                  <a:srgbClr val="111111"/>
                </a:solidFill>
              </a:rPr>
              <a:t>`NewTopic`</a:t>
            </a:r>
            <a:r>
              <a:rPr sz="2200">
                <a:solidFill>
                  <a:srgbClr val="111111"/>
                </a:solidFill>
              </a:rPr>
              <a:t> bean on startup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sz="2000">
                <a:solidFill>
                  <a:srgbClr val="111111"/>
                </a:solidFill>
                <a:latin typeface="Courier New"/>
              </a:rPr>
              <a:t>1 partition</a:t>
            </a:r>
            <a:r>
              <a:rPr sz="2200">
                <a:solidFill>
                  <a:srgbClr val="111111"/>
                </a:solidFill>
              </a:rPr>
              <a:t> — sufficient for branch01; expanded in branch02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sz="2000">
                <a:solidFill>
                  <a:srgbClr val="111111"/>
                </a:solidFill>
                <a:latin typeface="Courier New"/>
              </a:rPr>
              <a:t>replication-factor=1</a:t>
            </a:r>
            <a:r>
              <a:rPr sz="2200">
                <a:solidFill>
                  <a:srgbClr val="111111"/>
                </a:solidFill>
              </a:rPr>
              <a:t> — single-broker development setup</a:t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2896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482896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2040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Topic naming convention: </a:t>
            </a:r>
            <a:r>
              <a:rPr sz="2000" i="1">
                <a:solidFill>
                  <a:srgbClr val="16213E"/>
                </a:solidFill>
                <a:latin typeface="Courier New"/>
              </a:rPr>
              <a:t>&lt;branch&gt;.&lt;domain&gt;.&lt;event-type&gt;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2328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542328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1472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Example: </a:t>
            </a:r>
            <a:r>
              <a:rPr sz="2000" i="1">
                <a:solidFill>
                  <a:srgbClr val="16213E"/>
                </a:solidFill>
                <a:latin typeface="Courier New"/>
              </a:rPr>
              <a:t>01.orders.created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Producer — KafkaTemplate.send()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Three steps from HTTP request to Kafka message:</a:t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5880"/>
            <a:ext cx="11091672" cy="3291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3040"/>
            <a:ext cx="1090879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4D4D4"/>
                </a:solidFill>
                <a:latin typeface="Courier New"/>
              </a:rPr>
              <a:t>1. OrderController.createOrder(request)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▼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2. OrderService → builds OrderCreatedEvent(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orderId = UUID.randomUUID(),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userId  = request.userId,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...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│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▼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3. kafkaTemplate.send(topic, key, event)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key   = orderId   (prepares for partition routing in branch03)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value = JSON bytes  (spring.json.add.type.headers=false)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69160"/>
            <a:ext cx="11091672" cy="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Callback logs </a:t>
            </a:r>
            <a:r>
              <a:rPr b="1" sz="2200">
                <a:solidFill>
                  <a:srgbClr val="111111"/>
                </a:solidFill>
              </a:rPr>
              <a:t>partition</a:t>
            </a:r>
            <a:r>
              <a:rPr sz="2200">
                <a:solidFill>
                  <a:srgbClr val="111111"/>
                </a:solidFill>
              </a:rPr>
              <a:t> and </a:t>
            </a:r>
            <a:r>
              <a:rPr b="1" sz="2200">
                <a:solidFill>
                  <a:srgbClr val="111111"/>
                </a:solidFill>
              </a:rPr>
              <a:t>offset</a:t>
            </a:r>
            <a:r>
              <a:rPr sz="2200">
                <a:solidFill>
                  <a:srgbClr val="111111"/>
                </a:solidFill>
              </a:rPr>
              <a:t> after broker acknowledgement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sz="2000">
                <a:solidFill>
                  <a:srgbClr val="111111"/>
                </a:solidFill>
                <a:latin typeface="Courier New"/>
              </a:rPr>
              <a:t>spring.json.add.type.headers=false</a:t>
            </a:r>
            <a:r>
              <a:rPr sz="2200">
                <a:solidFill>
                  <a:srgbClr val="111111"/>
                </a:solidFill>
              </a:rPr>
              <a:t> — simplest serialization for branch01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Consumer — @KafkaListener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Spring Boot subscribes to a topic with a single annotation:</a:t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5880"/>
            <a:ext cx="11091672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3040"/>
            <a:ext cx="109087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4D4D4"/>
                </a:solidFill>
                <a:latin typeface="Courier New"/>
              </a:rPr>
              <a:t>@KafkaListener(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topics     = ["01.orders.created"],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groupId    = "notification-service-group"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fun handleOrder(record: ConsumerRecord&lt;String, OrderCreatedEvent&gt;) {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val event = record.value()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println("Order ${event.orderId} from ${event.userId}")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// simulate sending an email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54760"/>
            <a:ext cx="11091672" cy="1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sz="2000">
                <a:solidFill>
                  <a:srgbClr val="111111"/>
                </a:solidFill>
                <a:latin typeface="Courier New"/>
              </a:rPr>
              <a:t>auto-offset-reset: earliest</a:t>
            </a:r>
            <a:r>
              <a:rPr sz="2200">
                <a:solidFill>
                  <a:srgbClr val="111111"/>
                </a:solidFill>
              </a:rPr>
              <a:t> — on first start, reads all existing messages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sz="2000">
                <a:solidFill>
                  <a:srgbClr val="111111"/>
                </a:solidFill>
                <a:latin typeface="Courier New"/>
              </a:rPr>
              <a:t>ConsumerRecord&lt;K, V&gt;</a:t>
            </a:r>
            <a:r>
              <a:rPr sz="2200">
                <a:solidFill>
                  <a:srgbClr val="111111"/>
                </a:solidFill>
              </a:rPr>
              <a:t> gives access to </a:t>
            </a:r>
            <a:r>
              <a:rPr b="1" sz="2200">
                <a:solidFill>
                  <a:srgbClr val="111111"/>
                </a:solidFill>
              </a:rPr>
              <a:t>partition</a:t>
            </a:r>
            <a:r>
              <a:rPr sz="2200">
                <a:solidFill>
                  <a:srgbClr val="111111"/>
                </a:solidFill>
              </a:rPr>
              <a:t>, </a:t>
            </a:r>
            <a:r>
              <a:rPr b="1" sz="2200">
                <a:solidFill>
                  <a:srgbClr val="111111"/>
                </a:solidFill>
              </a:rPr>
              <a:t>offset</a:t>
            </a:r>
            <a:r>
              <a:rPr sz="2200">
                <a:solidFill>
                  <a:srgbClr val="111111"/>
                </a:solidFill>
              </a:rPr>
              <a:t>, and </a:t>
            </a:r>
            <a:r>
              <a:rPr b="1" sz="2200">
                <a:solidFill>
                  <a:srgbClr val="111111"/>
                </a:solidFill>
              </a:rPr>
              <a:t>headers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sz="2000">
                <a:solidFill>
                  <a:srgbClr val="111111"/>
                </a:solidFill>
                <a:latin typeface="Courier New"/>
              </a:rPr>
              <a:t>JsonDeserializer</a:t>
            </a:r>
            <a:r>
              <a:rPr sz="2200">
                <a:solidFill>
                  <a:srgbClr val="111111"/>
                </a:solidFill>
              </a:rPr>
              <a:t> with </a:t>
            </a:r>
            <a:r>
              <a:rPr sz="2000">
                <a:solidFill>
                  <a:srgbClr val="111111"/>
                </a:solidFill>
                <a:latin typeface="Courier New"/>
              </a:rPr>
              <a:t>value.default.type</a:t>
            </a:r>
            <a:r>
              <a:rPr sz="2200">
                <a:solidFill>
                  <a:srgbClr val="111111"/>
                </a:solidFill>
              </a:rPr>
              <a:t> deserializes JSON → Kotlin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Consumer Group &amp; Offset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Consumer group = a logical set of consumers sharing the work</a:t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5880"/>
            <a:ext cx="11091672" cy="1920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3040"/>
            <a:ext cx="109087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4D4D4"/>
                </a:solidFill>
                <a:latin typeface="Courier New"/>
              </a:rPr>
              <a:t>topic: 01.orders.created (1 partition)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notification-service-group: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consumer-1  reads  partition 0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current offset = 3  (next message to read)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log-end offset = 5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            lag 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97560"/>
            <a:ext cx="11091672" cy="1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Offset</a:t>
            </a:r>
            <a:r>
              <a:rPr sz="2200">
                <a:solidFill>
                  <a:srgbClr val="111111"/>
                </a:solidFill>
              </a:rPr>
              <a:t> is stored in Kafka's internal topic </a:t>
            </a:r>
            <a:r>
              <a:rPr sz="2000">
                <a:solidFill>
                  <a:srgbClr val="111111"/>
                </a:solidFill>
                <a:latin typeface="Courier New"/>
              </a:rPr>
              <a:t>__consumer_offsets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On restart → consumer continues from the </a:t>
            </a:r>
            <a:r>
              <a:rPr b="1" sz="2200">
                <a:solidFill>
                  <a:srgbClr val="111111"/>
                </a:solidFill>
              </a:rPr>
              <a:t>last committed offset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Lag</a:t>
            </a:r>
            <a:r>
              <a:rPr sz="2200">
                <a:solidFill>
                  <a:srgbClr val="111111"/>
                </a:solidFill>
              </a:rPr>
              <a:t> = </a:t>
            </a:r>
            <a:r>
              <a:rPr sz="2000">
                <a:solidFill>
                  <a:srgbClr val="111111"/>
                </a:solidFill>
                <a:latin typeface="Courier New"/>
              </a:rPr>
              <a:t>log-end-offset − current-offset</a:t>
            </a:r>
            <a:r>
              <a:rPr sz="2200">
                <a:solidFill>
                  <a:srgbClr val="111111"/>
                </a:solidFill>
              </a:rPr>
              <a:t> → growing lag means the consumer is falling behind</a:t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5756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505756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4900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  <a:latin typeface="Courier New"/>
              </a:rPr>
              <a:t>auto-offset-reset: earliest</a:t>
            </a:r>
            <a:r>
              <a:rPr sz="2000" i="1">
                <a:solidFill>
                  <a:srgbClr val="16213E"/>
                </a:solidFill>
              </a:rPr>
              <a:t> — if the group has no stored offset,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5188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565188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4332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start reading from the </a:t>
            </a:r>
            <a:r>
              <a:rPr b="1" sz="2000" i="1">
                <a:solidFill>
                  <a:srgbClr val="16213E"/>
                </a:solidFill>
              </a:rPr>
              <a:t>beginning</a:t>
            </a:r>
            <a:r>
              <a:rPr sz="2000" i="1">
                <a:solidFill>
                  <a:srgbClr val="16213E"/>
                </a:solidFill>
              </a:rPr>
              <a:t> of the topic.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JSON Serialization — Two Separate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800"/>
              </a:spcBef>
            </a:pPr>
            <a:r>
              <a:rPr b="1" sz="2400">
                <a:solidFill>
                  <a:srgbClr val="16213E"/>
                </a:solidFill>
              </a:rPr>
              <a:t>Both services define `OrderCreatedEvent` independently</a:t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5880"/>
            <a:ext cx="11091672" cy="1920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3040"/>
            <a:ext cx="109087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4D4D4"/>
                </a:solidFill>
                <a:latin typeface="Courier New"/>
              </a:rPr>
              <a:t>order-service: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com.kafkalab.order.model.OrderCreatedEvent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→ serialized to JSON by KafkaTemplate (JsonSerializer)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notification-service: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com.kafkalab.notification.model.OrderCreatedEvent</a:t>
            </a:r>
          </a:p>
          <a:p>
            <a:r>
              <a:rPr sz="1600">
                <a:solidFill>
                  <a:srgbClr val="D4D4D4"/>
                </a:solidFill>
                <a:latin typeface="Courier New"/>
              </a:rPr>
              <a:t>  → deserialized from JSON by @KafkaListener (JsonDeserializer)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97560"/>
            <a:ext cx="1109167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9756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399756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8900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Services are </a:t>
            </a:r>
            <a:r>
              <a:rPr b="1" sz="2000" i="1">
                <a:solidFill>
                  <a:srgbClr val="16213E"/>
                </a:solidFill>
              </a:rPr>
              <a:t>independent</a:t>
            </a:r>
            <a:r>
              <a:rPr sz="2000" i="1">
                <a:solidFill>
                  <a:srgbClr val="16213E"/>
                </a:solidFill>
              </a:rPr>
              <a:t> — they must not share a common library.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9188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59188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8332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The JSON contract (field names) is the only coupling.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86200"/>
            <a:ext cx="11091672" cy="1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1000"/>
              </a:spcBef>
            </a:pPr>
            <a:r>
              <a:t/>
            </a:r>
          </a:p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sz="2000">
                <a:solidFill>
                  <a:srgbClr val="111111"/>
                </a:solidFill>
                <a:latin typeface="Courier New"/>
              </a:rPr>
              <a:t>spring.json.add.type.headers=false</a:t>
            </a:r>
            <a:r>
              <a:rPr sz="2200">
                <a:solidFill>
                  <a:srgbClr val="111111"/>
                </a:solidFill>
              </a:rPr>
              <a:t> — producer does NOT embed class name in headers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sz="2000">
                <a:solidFill>
                  <a:srgbClr val="111111"/>
                </a:solidFill>
                <a:latin typeface="Courier New"/>
              </a:rPr>
              <a:t>spring.json.value.default.type</a:t>
            </a:r>
            <a:r>
              <a:rPr sz="2200">
                <a:solidFill>
                  <a:srgbClr val="111111"/>
                </a:solidFill>
              </a:rPr>
              <a:t> — consumer always deserializes to the specified class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From </a:t>
            </a:r>
            <a:r>
              <a:rPr b="1" sz="2200">
                <a:solidFill>
                  <a:srgbClr val="111111"/>
                </a:solidFill>
              </a:rPr>
              <a:t>branch11</a:t>
            </a:r>
            <a:r>
              <a:rPr sz="2200">
                <a:solidFill>
                  <a:srgbClr val="111111"/>
                </a:solidFill>
              </a:rPr>
              <a:t> (Avro + Schema Registry) this coupling is solved via schema contracts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2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Topic</a:t>
            </a:r>
            <a:r>
              <a:rPr sz="2200">
                <a:solidFill>
                  <a:srgbClr val="111111"/>
                </a:solidFill>
              </a:rPr>
              <a:t> = ordered, persistent log; messages survive consumer restarts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Producer</a:t>
            </a:r>
            <a:r>
              <a:rPr sz="2200">
                <a:solidFill>
                  <a:srgbClr val="111111"/>
                </a:solidFill>
              </a:rPr>
              <a:t> publishes via </a:t>
            </a:r>
            <a:r>
              <a:rPr sz="2000">
                <a:solidFill>
                  <a:srgbClr val="111111"/>
                </a:solidFill>
                <a:latin typeface="Courier New"/>
              </a:rPr>
              <a:t>KafkaTemplate.send(topic, key, value)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Consumer</a:t>
            </a:r>
            <a:r>
              <a:rPr sz="2200">
                <a:solidFill>
                  <a:srgbClr val="111111"/>
                </a:solidFill>
              </a:rPr>
              <a:t> subscribes with </a:t>
            </a:r>
            <a:r>
              <a:rPr sz="2000">
                <a:solidFill>
                  <a:srgbClr val="111111"/>
                </a:solidFill>
                <a:latin typeface="Courier New"/>
              </a:rPr>
              <a:t>@KafkaListener</a:t>
            </a:r>
            <a:r>
              <a:rPr sz="2200">
                <a:solidFill>
                  <a:srgbClr val="111111"/>
                </a:solidFill>
              </a:rPr>
              <a:t>; one annotation is enough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Consumer Group</a:t>
            </a:r>
            <a:r>
              <a:rPr sz="2200">
                <a:solidFill>
                  <a:srgbClr val="111111"/>
                </a:solidFill>
              </a:rPr>
              <a:t> = multiple instances sharing partitions; group tracks offsets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Offset</a:t>
            </a:r>
            <a:r>
              <a:rPr sz="2200">
                <a:solidFill>
                  <a:srgbClr val="111111"/>
                </a:solidFill>
              </a:rPr>
              <a:t> = message position; stored in </a:t>
            </a:r>
            <a:r>
              <a:rPr sz="2000">
                <a:solidFill>
                  <a:srgbClr val="111111"/>
                </a:solidFill>
                <a:latin typeface="Courier New"/>
              </a:rPr>
              <a:t>__consumer_offsets</a:t>
            </a:r>
            <a:r>
              <a:rPr sz="2200">
                <a:solidFill>
                  <a:srgbClr val="111111"/>
                </a:solidFill>
              </a:rPr>
              <a:t>; enables replay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KRaft</a:t>
            </a:r>
            <a:r>
              <a:rPr sz="2200">
                <a:solidFill>
                  <a:srgbClr val="111111"/>
                </a:solidFill>
              </a:rPr>
              <a:t> = Kafka without Zookeeper; required from Kafka 4.0</a:t>
            </a:r>
          </a:p>
          <a:p>
            <a:pPr>
              <a:spcBef>
                <a:spcPts val="300"/>
              </a:spcBef>
            </a:pPr>
            <a:r>
              <a:rPr sz="2200">
                <a:solidFill>
                  <a:srgbClr val="111111"/>
                </a:solidFill>
              </a:rPr>
              <a:t>• </a:t>
            </a:r>
            <a:r>
              <a:rPr b="1" sz="2200">
                <a:solidFill>
                  <a:srgbClr val="111111"/>
                </a:solidFill>
              </a:rPr>
              <a:t>Two models</a:t>
            </a:r>
            <a:r>
              <a:rPr sz="2200">
                <a:solidFill>
                  <a:srgbClr val="111111"/>
                </a:solidFill>
              </a:rPr>
              <a:t> = services stay independent; JSON field names are the contract</a:t>
            </a:r>
          </a:p>
          <a:p>
            <a:pPr>
              <a:spcBef>
                <a:spcPts val="400"/>
              </a:spcBef>
            </a:pPr>
            <a:r>
              <a:t/>
            </a:r>
          </a:p>
          <a:p>
            <a:pPr>
              <a:spcBef>
                <a:spcPts val="1000"/>
              </a:spcBef>
            </a:pPr>
            <a:r>
              <a:t/>
            </a:r>
          </a:p>
          <a:p>
            <a:pPr>
              <a:spcBef>
                <a:spcPts val="400"/>
              </a:spcBef>
            </a:pPr>
            <a: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6588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406588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5732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Branch01 is the minimal working Kafka setup.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0200"/>
            <a:ext cx="73152" cy="502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4660200"/>
            <a:ext cx="11018520" cy="502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51640"/>
            <a:ext cx="10771632" cy="41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16213E"/>
                </a:solidFill>
              </a:rPr>
              <a:t>Every concept introduced here is the foundation for all following branches.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>
                <a:solidFill>
                  <a:srgbClr val="FFFFFF"/>
                </a:solidFill>
              </a:rPr>
              <a:t>Questions?</a:t>
            </a:r>
          </a:p>
          <a:p>
            <a:pPr algn="ctr"/>
            <a:r>
              <a:rPr b="1" sz="3600">
                <a:solidFill>
                  <a:srgbClr val="FFFFFF"/>
                </a:solidFill>
              </a:rPr>
              <a:t>What's Next — Branch 02</a:t>
            </a:r>
          </a:p>
          <a:p>
            <a:pPr algn="ctr">
              <a:spcBef>
                <a:spcPts val="1800"/>
              </a:spcBef>
            </a:pPr>
            <a:r>
              <a:rPr b="1" sz="2400">
                <a:solidFill>
                  <a:srgbClr val="D4D4D4"/>
                </a:solidFill>
              </a:rPr>
              <a:t>Topics &amp; Partitions in depth</a:t>
            </a:r>
          </a:p>
          <a:p>
            <a:pPr algn="ctr">
              <a:spcBef>
                <a:spcPts val="1800"/>
              </a:spcBef>
            </a:pPr>
            <a:r>
              <a:rPr b="1" sz="2400">
                <a:solidFill>
                  <a:srgbClr val="D4D4D4"/>
                </a:solidFill>
              </a:rPr>
              <a:t>Branch 01 — Basic Kafka in Docker</a:t>
            </a:r>
          </a:p>
          <a:p>
            <a:pPr algn="ctr"/>
            <a:r>
              <a:rPr i="1" sz="2000">
                <a:solidFill>
                  <a:srgbClr val="D4D4D4"/>
                </a:solidFill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