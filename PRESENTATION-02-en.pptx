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5752" y="5029200"/>
            <a:ext cx="2743200" cy="1828800"/>
          </a:xfrm>
          <a:prstGeom prst="rect">
            <a:avLst/>
          </a:prstGeom>
          <a:solidFill>
            <a:srgbClr val="0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Branch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Topics &amp; Partitions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>1. Why branch01 wasn't enough</a:t>
            </a:r>
          </a:p>
          <a:p>
            <a:pPr/>
            <a:r>
              <a:rPr sz="2000">
                <a:solidFill>
                  <a:srgbClr val="1A1A2E"/>
                </a:solidFill>
              </a:rPr>
              <a:t>2. What is a Partition?</a:t>
            </a:r>
          </a:p>
          <a:p>
            <a:pPr/>
            <a:r>
              <a:rPr sz="2000">
                <a:solidFill>
                  <a:srgbClr val="1A1A2E"/>
                </a:solidFill>
              </a:rPr>
              <a:t>3. How partitions are selected</a:t>
            </a:r>
          </a:p>
          <a:p>
            <a:pPr/>
            <a:r>
              <a:rPr sz="2000">
                <a:solidFill>
                  <a:srgbClr val="1A1A2E"/>
                </a:solidFill>
              </a:rPr>
              <a:t>4. Offsets — Kafka's bookmark system</a:t>
            </a:r>
          </a:p>
          <a:p>
            <a:pPr/>
            <a:r>
              <a:rPr sz="2000">
                <a:solidFill>
                  <a:srgbClr val="1A1A2E"/>
                </a:solidFill>
              </a:rPr>
              <a:t>5. Retention — how long messages live</a:t>
            </a:r>
          </a:p>
          <a:p>
            <a:pPr/>
            <a:r>
              <a:rPr sz="2000">
                <a:solidFill>
                  <a:srgbClr val="1A1A2E"/>
                </a:solidFill>
              </a:rPr>
              <a:t>6. 1 partition = strict ordering</a:t>
            </a:r>
          </a:p>
          <a:p>
            <a:pPr/>
            <a:r>
              <a:rPr sz="2000">
                <a:solidFill>
                  <a:srgbClr val="1A1A2E"/>
                </a:solidFill>
              </a:rPr>
              <a:t>7. Naming conventions</a:t>
            </a:r>
          </a:p>
          <a:p>
            <a:pPr/>
            <a:r>
              <a:rPr sz="2000">
                <a:solidFill>
                  <a:srgbClr val="1A1A2E"/>
                </a:solidFill>
              </a:rPr>
              <a:t>8. Type Headers — multi-type deserialization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>9. Summary &amp;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Branch01 — One Partition, One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The limitation: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1 topic → 1 partition → 1 consumer → sequential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1109167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Max throughput = the speed of a </a:t>
            </a:r>
            <a:r>
              <a:rPr b="1" sz="2000">
                <a:solidFill>
                  <a:srgbClr val="1A1A2E"/>
                </a:solidFill>
              </a:rPr>
              <a:t>single consumer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One message type — one listener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No isolation between event types (created vs cancelled)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Branch02 introduces: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Multiple partitions for parallel processing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Separate topics per event type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Type headers for flexible deserialization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a Partition?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A partition is an ordered, immutable log inside a topic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02.orders.created  (3 partitions)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├── partition 0:  [offset=0] [offset=3] [offset=6] 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├── partition 1:  [offset=0] [offset=2] [offset=5] 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└── partition 2:  [offset=0] [offset=1] [offset=4]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01568"/>
            <a:ext cx="1109167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4468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3744468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35908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Kafka guarantees ordering **only within** a single partition. Between partitions — order is undefined.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57116"/>
            <a:ext cx="11091672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Each partition is assigned to </a:t>
            </a:r>
            <a:r>
              <a:rPr b="1" sz="2000">
                <a:solidFill>
                  <a:srgbClr val="1A1A2E"/>
                </a:solidFill>
              </a:rPr>
              <a:t>exactly one</a:t>
            </a:r>
            <a:r>
              <a:rPr sz="2000">
                <a:solidFill>
                  <a:srgbClr val="1A1A2E"/>
                </a:solidFill>
              </a:rPr>
              <a:t> consumer in a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Partitions Enable 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Scale-out by adding consumers (up to partition count):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3 partitions + 1 consumer:      3 partitions + 3 consumers: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consumer-1 reads p0, p1, p2     consumer-1 reads p0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  consumer-2 reads p1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  consumer-3 reads 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01568"/>
            <a:ext cx="1109167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4468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3744468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35908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**Rule:** you cannot have more useful consumers than partitions. Extra consumers sit **idle**.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Partition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Rule: `partition = hash(key) % numPartitions`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960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key = "order-uuid-123"  →  hash % 3 = 0  →  partition 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key = "order-uuid-456"  →  hash % 3 = 2  →  partition 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key = null              →  round-robin   →  0, 1, 2, 0, 1, 2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8"/>
            <a:ext cx="11091672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110228.0"/>
          <a:ext cx="1109167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0233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Partition selection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Ordering guarantee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murmur2(key) % N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All events with same key are ordered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round-robin / sticky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No ordering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Offset — Kafka's Bookmark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Offset = monotonically increasing message number within a partition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partition 0:  [0] [1] [2] [3] [4] [5] 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↑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consumer offset = 3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(next message to read: [3])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01568"/>
            <a:ext cx="1109167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Stored in internal topic </a:t>
            </a:r>
            <a:r>
              <a:rPr b="1" sz="2000">
                <a:solidFill>
                  <a:srgbClr val="1A1A2E"/>
                </a:solidFill>
              </a:rPr>
              <a:t>`__consumer_offsets`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On restart → consumer continues from the same position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Can be </a:t>
            </a:r>
            <a:r>
              <a:rPr b="1" sz="2000">
                <a:solidFill>
                  <a:srgbClr val="1A1A2E"/>
                </a:solidFill>
              </a:rPr>
              <a:t>reset</a:t>
            </a:r>
            <a:r>
              <a:rPr sz="2000">
                <a:solidFill>
                  <a:srgbClr val="1A1A2E"/>
                </a:solidFill>
              </a:rPr>
              <a:t> to replay events (</a:t>
            </a:r>
            <a:r>
              <a:rPr sz="2000">
                <a:solidFill>
                  <a:srgbClr val="0F3460"/>
                </a:solidFill>
                <a:latin typeface="Courier New"/>
              </a:rPr>
              <a:t>--reset-offsets</a:t>
            </a:r>
            <a:r>
              <a:rPr sz="2000">
                <a:solidFill>
                  <a:srgbClr val="1A1A2E"/>
                </a:solidFill>
              </a:rPr>
              <a:t>)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16068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5116068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07508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**Consumer lag** = `LOG-END-OFFSET - CURRENT-OFFSET` Growing lag → consumer is falling behind → alert!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Retention — Message Lifetime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`retention.ms` = how long a message lives after being written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02.orders.created     → 7 days   (604_800_000 ms)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02.notifications.sent → 1 day    ( 86_400_000 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61488"/>
            <a:ext cx="11091672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Key facts: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Messages are deleted </a:t>
            </a:r>
            <a:r>
              <a:rPr b="1" sz="2000">
                <a:solidFill>
                  <a:srgbClr val="1A1A2E"/>
                </a:solidFill>
              </a:rPr>
              <a:t>after the time expires</a:t>
            </a:r>
            <a:r>
              <a:rPr sz="2000">
                <a:solidFill>
                  <a:srgbClr val="1A1A2E"/>
                </a:solidFill>
              </a:rPr>
              <a:t>, regardless of whether they were consumed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If a consumer is behind by more than the retention period → </a:t>
            </a:r>
            <a:r>
              <a:rPr b="1" sz="2000">
                <a:solidFill>
                  <a:srgbClr val="1A1A2E"/>
                </a:solidFill>
              </a:rPr>
              <a:t>messages are lost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Also: </a:t>
            </a:r>
            <a:r>
              <a:rPr sz="2000">
                <a:solidFill>
                  <a:srgbClr val="0F3460"/>
                </a:solidFill>
                <a:latin typeface="Courier New"/>
              </a:rPr>
              <a:t>retention.bytes</a:t>
            </a:r>
            <a:r>
              <a:rPr sz="2000">
                <a:solidFill>
                  <a:srgbClr val="1A1A2E"/>
                </a:solidFill>
              </a:rPr>
              <a:t> — size-based limit per partition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04688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5504688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96128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Kafka is a **log**, not a traditional message queue. Messages survive consumer crashes — within the retention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 Partition = Strict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When order is critical — use exactly 1 partition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960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02.orders.cancelled  (1 partition)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→ all cancellations go to partition 0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→ processed strictly in arrival order: cancel#1 before cancel#2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81528"/>
            <a:ext cx="11091672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Why not use more partitions?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With 2 partitions: </a:t>
            </a:r>
            <a:r>
              <a:rPr sz="2000">
                <a:solidFill>
                  <a:srgbClr val="0F3460"/>
                </a:solidFill>
                <a:latin typeface="Courier New"/>
              </a:rPr>
              <a:t>cancel#1 → p0</a:t>
            </a:r>
            <a:r>
              <a:rPr sz="2000">
                <a:solidFill>
                  <a:srgbClr val="1A1A2E"/>
                </a:solidFill>
              </a:rPr>
              <a:t>, </a:t>
            </a:r>
            <a:r>
              <a:rPr sz="2000">
                <a:solidFill>
                  <a:srgbClr val="0F3460"/>
                </a:solidFill>
                <a:latin typeface="Courier New"/>
              </a:rPr>
              <a:t>cancel#2 → p1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Two consumers may process them in reverse order. 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Trade-off:</a:t>
            </a:r>
            <a:r>
              <a:rPr sz="2000">
                <a:solidFill>
                  <a:srgbClr val="1A1A2E"/>
                </a:solidFill>
              </a:rPr>
              <a:t> 1 partition = 1 consumer = lower throughput.</a:t>
            </a:r>
          </a:p>
          <a:p>
            <a:pPr/>
            <a:r>
              <a:rPr sz="2000">
                <a:solidFill>
                  <a:srgbClr val="1A1A2E"/>
                </a:solidFill>
              </a:rPr>
              <a:t>Acceptable when strict ordering matters more than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Naming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Topic format: `&lt;env&gt;.&lt;domain&gt;.&lt;event-type&gt;`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1600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02 . orders  . created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│      │   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│      │         └── what happened: created, cancelled, processed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│      └──────────── business domain: orders, payments, notifications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└─────────────────── environment / branch prefix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21608"/>
            <a:ext cx="11091672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Examples: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Learning: </a:t>
            </a:r>
            <a:r>
              <a:rPr sz="2000">
                <a:solidFill>
                  <a:srgbClr val="0F3460"/>
                </a:solidFill>
                <a:latin typeface="Courier New"/>
              </a:rPr>
              <a:t>02.orders.created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Production: </a:t>
            </a:r>
            <a:r>
              <a:rPr sz="2000">
                <a:solidFill>
                  <a:srgbClr val="0F3460"/>
                </a:solidFill>
                <a:latin typeface="Courier New"/>
              </a:rPr>
              <a:t>prod.orders.created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Staging: </a:t>
            </a:r>
            <a:r>
              <a:rPr sz="2000">
                <a:solidFill>
                  <a:srgbClr val="0F3460"/>
                </a:solidFill>
                <a:latin typeface="Courier New"/>
              </a:rPr>
              <a:t>staging.payments.processed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64808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6464808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56248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Consistent naming = self-documenting topics = faster incident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Type Headers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How does `JsonDeserializer` know which class to instantiate?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Option A:</a:t>
            </a:r>
            <a:r>
              <a:rPr sz="2000">
                <a:solidFill>
                  <a:srgbClr val="1A1A2E"/>
                </a:solidFill>
              </a:rPr>
              <a:t> </a:t>
            </a:r>
            <a:r>
              <a:rPr sz="2000">
                <a:solidFill>
                  <a:srgbClr val="0F3460"/>
                </a:solidFill>
                <a:latin typeface="Courier New"/>
              </a:rPr>
              <a:t>value.default.type = OrderCreatedEvent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→ only </a:t>
            </a:r>
            <a:r>
              <a:rPr b="1" sz="2000">
                <a:solidFill>
                  <a:srgbClr val="1A1A2E"/>
                </a:solidFill>
              </a:rPr>
              <a:t>one</a:t>
            </a:r>
            <a:r>
              <a:rPr sz="2000">
                <a:solidFill>
                  <a:srgbClr val="1A1A2E"/>
                </a:solidFill>
              </a:rPr>
              <a:t> type for the entire factory ✗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Option B:</a:t>
            </a:r>
            <a:r>
              <a:rPr sz="2000">
                <a:solidFill>
                  <a:srgbClr val="1A1A2E"/>
                </a:solidFill>
              </a:rPr>
              <a:t> Two separate </a:t>
            </a:r>
            <a:r>
              <a:rPr sz="2000">
                <a:solidFill>
                  <a:srgbClr val="0F3460"/>
                </a:solidFill>
                <a:latin typeface="Courier New"/>
              </a:rPr>
              <a:t>KafkaListenerContainerFactory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→ manual bean configuration, </a:t>
            </a:r>
            <a:r>
              <a:rPr sz="2000">
                <a:solidFill>
                  <a:srgbClr val="0F3460"/>
                </a:solidFill>
                <a:latin typeface="Courier New"/>
              </a:rPr>
              <a:t>@KafkaListener(containerFactory = "...")</a:t>
            </a:r>
            <a:r>
              <a:rPr sz="2000">
                <a:solidFill>
                  <a:srgbClr val="1A1A2E"/>
                </a:solidFill>
              </a:rPr>
              <a:t> binding ✗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Option C:</a:t>
            </a:r>
            <a:r>
              <a:rPr sz="2000">
                <a:solidFill>
                  <a:srgbClr val="1A1A2E"/>
                </a:solidFill>
              </a:rPr>
              <a:t> Deserialize to </a:t>
            </a:r>
            <a:r>
              <a:rPr sz="2000">
                <a:solidFill>
                  <a:srgbClr val="0F3460"/>
                </a:solidFill>
                <a:latin typeface="Courier New"/>
              </a:rPr>
              <a:t>Map&lt;String, Any&gt;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→ loss of type safety, manual parsing ✗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783580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5783580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875020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None of these scale well beyond 3–4 event types.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Type Headers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`spring.json.add.type.headers=true`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2591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Producer sends: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{ JSON bytes }  +  header: __TypeId__ = "OrderCreatedEvent"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Consumer JsonDeserializer: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reads __TypeId__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→ looks in type.mapping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→ "OrderCreatedEvent" → com.kafkalab.notification.model.OrderCreatedEvent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→ instantiates the correct class automatically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1728"/>
            <a:ext cx="110916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One factory — any number of message types.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Aliases (</a:t>
            </a:r>
            <a:r>
              <a:rPr sz="2000">
                <a:solidFill>
                  <a:srgbClr val="0F3460"/>
                </a:solidFill>
                <a:latin typeface="Courier New"/>
              </a:rPr>
              <a:t>OrderCreatedEvent</a:t>
            </a:r>
            <a:r>
              <a:rPr sz="2000">
                <a:solidFill>
                  <a:srgbClr val="1A1A2E"/>
                </a:solidFill>
              </a:rPr>
              <a:t> instead of FQCN) decouple services from package names.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Type Headers — Why Aliases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Without aliases:</a:t>
            </a:r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68780"/>
            <a:ext cx="11091672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059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__TypeId__: com.kafkalab.order.model.OrderCreatedEvent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27148"/>
            <a:ext cx="11091672" cy="425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>Consumer must know the </a:t>
            </a:r>
            <a:r>
              <a:rPr b="1" sz="2000">
                <a:solidFill>
                  <a:srgbClr val="1A1A2E"/>
                </a:solidFill>
              </a:rPr>
              <a:t>exact package</a:t>
            </a:r>
            <a:r>
              <a:rPr sz="2000">
                <a:solidFill>
                  <a:srgbClr val="1A1A2E"/>
                </a:solidFill>
              </a:rPr>
              <a:t> of the producer.</a:t>
            </a:r>
          </a:p>
          <a:p>
            <a:pPr/>
            <a:r>
              <a:rPr sz="2000">
                <a:solidFill>
                  <a:srgbClr val="1A1A2E"/>
                </a:solidFill>
              </a:rPr>
              <a:t>Rename a package → update every consumer.</a:t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With aliases:</a:t>
            </a:r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98748"/>
            <a:ext cx="11091672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35908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producer type.mapping: "OrderCreatedEvent:com.kafkalab.order.model.OrderCreatedEvent"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consumer type.mapping: "OrderCreatedEvent:com.kafkalab.notification.model.OrderCreatedEvent"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48556"/>
            <a:ext cx="11091672" cy="213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>Services share </a:t>
            </a:r>
            <a:r>
              <a:rPr b="1" sz="2000">
                <a:solidFill>
                  <a:srgbClr val="1A1A2E"/>
                </a:solidFill>
              </a:rPr>
              <a:t>the alias</a:t>
            </a:r>
            <a:r>
              <a:rPr sz="2000">
                <a:solidFill>
                  <a:srgbClr val="1A1A2E"/>
                </a:solidFill>
              </a:rPr>
              <a:t>, not the class path.</a:t>
            </a:r>
          </a:p>
          <a:p>
            <a:pPr/>
            <a:r>
              <a:rPr sz="2000">
                <a:solidFill>
                  <a:srgbClr val="1A1A2E"/>
                </a:solidFill>
              </a:rPr>
              <a:t>Each service maps it to its own local class independently.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Branch02 Topics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0233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Partitions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02.orders.created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 days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New orders — parallel processing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02.orders.cancelled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Cancellations — strict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02.payments.processed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 days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Reserved for branch03+</a:t>
                      </a:r>
                    </a:p>
                  </a:txBody>
                  <a:tcPr>
                    <a:solidFill>
                      <a:srgbClr val="F0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02.notifications.sent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Delivery confirmations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47288"/>
            <a:ext cx="11091672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0188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3790188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81628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Prefix `02.` keeps this branch's topics isolated in the same Kafka cluster.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— branch02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4800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D4D4"/>
                </a:solidFill>
                <a:latin typeface="Courier New"/>
              </a:rPr>
              <a:t>POST /api/orders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▼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┌─────────────────┐   02.orders.created (3 partitions)   ┌──────────────────────────┐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│  order-service  │  ──────────────────────────────────▶ │                    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│  :8081          │                                      │  notification-service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│                 │   02.orders.cancelled (1 partition)  │  :8082             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│                 │  ──────────────────────────────────▶ │                    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└─────────────────┘                                      └──────────────────────────┘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     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┌──────────▼──────────┐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│    Apache Kafka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│    kafka:9092  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│    (KRaft mode)     │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               └─────────────────────┘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Partition</a:t>
            </a:r>
            <a:r>
              <a:rPr sz="2000">
                <a:solidFill>
                  <a:srgbClr val="1A1A2E"/>
                </a:solidFill>
              </a:rPr>
              <a:t> = unit of parallelism AND ordering in Kafka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`hash(key) % N`</a:t>
            </a:r>
            <a:r>
              <a:rPr sz="2000">
                <a:solidFill>
                  <a:srgbClr val="1A1A2E"/>
                </a:solidFill>
              </a:rPr>
              <a:t> determines partition; </a:t>
            </a:r>
            <a:r>
              <a:rPr sz="2000">
                <a:solidFill>
                  <a:srgbClr val="0F3460"/>
                </a:solidFill>
                <a:latin typeface="Courier New"/>
              </a:rPr>
              <a:t>null</a:t>
            </a:r>
            <a:r>
              <a:rPr sz="2000">
                <a:solidFill>
                  <a:srgbClr val="1A1A2E"/>
                </a:solidFill>
              </a:rPr>
              <a:t> key = round-robin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Offset</a:t>
            </a:r>
            <a:r>
              <a:rPr sz="2000">
                <a:solidFill>
                  <a:srgbClr val="1A1A2E"/>
                </a:solidFill>
              </a:rPr>
              <a:t> = consumer bookmark; stored in </a:t>
            </a:r>
            <a:r>
              <a:rPr sz="2000">
                <a:solidFill>
                  <a:srgbClr val="0F3460"/>
                </a:solidFill>
                <a:latin typeface="Courier New"/>
              </a:rPr>
              <a:t>__consumer_offsets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`retention.ms`</a:t>
            </a:r>
            <a:r>
              <a:rPr sz="2000">
                <a:solidFill>
                  <a:srgbClr val="1A1A2E"/>
                </a:solidFill>
              </a:rPr>
              <a:t> = message TTL, independent of consumption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1 partition</a:t>
            </a:r>
            <a:r>
              <a:rPr sz="2000">
                <a:solidFill>
                  <a:srgbClr val="1A1A2E"/>
                </a:solidFill>
              </a:rPr>
              <a:t> = strict order; </a:t>
            </a:r>
            <a:r>
              <a:rPr b="1" sz="2000">
                <a:solidFill>
                  <a:srgbClr val="1A1A2E"/>
                </a:solidFill>
              </a:rPr>
              <a:t>N partitions</a:t>
            </a:r>
            <a:r>
              <a:rPr sz="2000">
                <a:solidFill>
                  <a:srgbClr val="1A1A2E"/>
                </a:solidFill>
              </a:rPr>
              <a:t> = parallelism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Type headers</a:t>
            </a:r>
            <a:r>
              <a:rPr sz="2000">
                <a:solidFill>
                  <a:srgbClr val="1A1A2E"/>
                </a:solidFill>
              </a:rPr>
              <a:t> = scalable multi-type deserialization from one factory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b="1" sz="2000">
                <a:solidFill>
                  <a:srgbClr val="1A1A2E"/>
                </a:solidFill>
              </a:rPr>
              <a:t>Naming convention:</a:t>
            </a:r>
            <a:r>
              <a:rPr sz="2000">
                <a:solidFill>
                  <a:srgbClr val="1A1A2E"/>
                </a:solidFill>
              </a:rPr>
              <a:t> </a:t>
            </a:r>
            <a:r>
              <a:rPr sz="2000">
                <a:solidFill>
                  <a:srgbClr val="0F3460"/>
                </a:solidFill>
                <a:latin typeface="Courier New"/>
              </a:rPr>
              <a:t>&lt;env&gt;.&lt;domain&gt;.&lt;event-type&gt;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4754880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Good Kafka design is mostly about these 7 things.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Next — Branch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1A1A2E"/>
                </a:solidFill>
              </a:rPr>
              <a:t/>
            </a:r>
            <a:r>
              <a:rPr b="1" sz="2000">
                <a:solidFill>
                  <a:srgbClr val="1A1A2E"/>
                </a:solidFill>
              </a:rPr>
              <a:t>Message Keys in depth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>• How </a:t>
            </a:r>
            <a:r>
              <a:rPr sz="2000">
                <a:solidFill>
                  <a:srgbClr val="0F3460"/>
                </a:solidFill>
                <a:latin typeface="Courier New"/>
              </a:rPr>
              <a:t>hash(key) % numPartitions</a:t>
            </a:r>
            <a:r>
              <a:rPr sz="2000">
                <a:solidFill>
                  <a:srgbClr val="1A1A2E"/>
                </a:solidFill>
              </a:rPr>
              <a:t> selects a partition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Why all events of the same </a:t>
            </a:r>
            <a:r>
              <a:rPr sz="2000">
                <a:solidFill>
                  <a:srgbClr val="0F3460"/>
                </a:solidFill>
                <a:latin typeface="Courier New"/>
              </a:rPr>
              <a:t>userId</a:t>
            </a:r>
            <a:r>
              <a:rPr sz="2000">
                <a:solidFill>
                  <a:srgbClr val="1A1A2E"/>
                </a:solidFill>
              </a:rPr>
              <a:t> must go to the same partition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</a:t>
            </a:r>
            <a:r>
              <a:rPr sz="2000">
                <a:solidFill>
                  <a:srgbClr val="0F3460"/>
                </a:solidFill>
                <a:latin typeface="Courier New"/>
              </a:rPr>
              <a:t>null</a:t>
            </a:r>
            <a:r>
              <a:rPr sz="2000">
                <a:solidFill>
                  <a:srgbClr val="1A1A2E"/>
                </a:solidFill>
              </a:rPr>
              <a:t> key → round-robin distribution</a:t>
            </a:r>
          </a:p>
          <a:p>
            <a:pPr/>
            <a:r>
              <a:rPr sz="2000">
                <a:solidFill>
                  <a:srgbClr val="1A1A2E"/>
                </a:solidFill>
              </a:rPr>
              <a:t>• Comparison: keyed by </a:t>
            </a:r>
            <a:r>
              <a:rPr sz="2000">
                <a:solidFill>
                  <a:srgbClr val="0F3460"/>
                </a:solidFill>
                <a:latin typeface="Courier New"/>
              </a:rPr>
              <a:t>userId</a:t>
            </a:r>
            <a:r>
              <a:rPr sz="2000">
                <a:solidFill>
                  <a:srgbClr val="1A1A2E"/>
                </a:solidFill>
              </a:rPr>
              <a:t> vs keyed by </a:t>
            </a:r>
            <a:r>
              <a:rPr sz="2000">
                <a:solidFill>
                  <a:srgbClr val="0F3460"/>
                </a:solidFill>
                <a:latin typeface="Courier New"/>
              </a:rPr>
              <a:t>orderId</a:t>
            </a:r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  <a:p>
            <a:pPr/>
            <a:r>
              <a:rPr sz="2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11980"/>
            <a:ext cx="7315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4411980"/>
            <a:ext cx="11018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03420"/>
            <a:ext cx="10771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6213E"/>
                </a:solidFill>
              </a:rPr>
              <a:t>Key selection is a **business decision**, not a technical detail. Wrong key = wrong ordering = wrong behavior.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5752" y="5029200"/>
            <a:ext cx="2743200" cy="1828800"/>
          </a:xfrm>
          <a:prstGeom prst="rect">
            <a:avLst/>
          </a:prstGeom>
          <a:solidFill>
            <a:srgbClr val="0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