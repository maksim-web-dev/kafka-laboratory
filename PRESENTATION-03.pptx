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Branch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Message Keys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Apache Kafka for Certification &amp; 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</a:p>
          <a:p>
            <a:pPr>
              <a:spcBef>
                <a:spcPts val="300"/>
              </a:spcBef>
            </a:pPr>
            <a:r>
              <a:rPr sz="2000" b="0">
                <a:solidFill>
                  <a:srgbClr val="1A1A1A"/>
                </a:solidFill>
              </a:rPr>
              <a:t>1. The problem with </a:t>
            </a:r>
            <a:r>
              <a:rPr sz="2000" b="0">
                <a:solidFill>
                  <a:srgbClr val="0F3460"/>
                </a:solidFill>
              </a:rPr>
              <a:t>orderId</a:t>
            </a:r>
            <a:r>
              <a:rPr sz="2000" b="0">
                <a:solidFill>
                  <a:srgbClr val="1A1A1A"/>
                </a:solidFill>
              </a:rPr>
              <a:t> as a key</a:t>
            </a:r>
          </a:p>
          <a:p>
            <a:pPr>
              <a:spcBef>
                <a:spcPts val="300"/>
              </a:spcBef>
            </a:pPr>
            <a:r>
              <a:rPr sz="2000" b="0">
                <a:solidFill>
                  <a:srgbClr val="1A1A1A"/>
                </a:solidFill>
              </a:rPr>
              <a:t>2. Partition selection algorithm — Murmur2 hash</a:t>
            </a:r>
          </a:p>
          <a:p>
            <a:pPr>
              <a:spcBef>
                <a:spcPts val="300"/>
              </a:spcBef>
            </a:pPr>
            <a:r>
              <a:rPr sz="2000" b="0">
                <a:solidFill>
                  <a:srgbClr val="1A1A1A"/>
                </a:solidFill>
              </a:rPr>
              <a:t>3. </a:t>
            </a:r>
            <a:r>
              <a:rPr sz="2000" b="0">
                <a:solidFill>
                  <a:srgbClr val="0F3460"/>
                </a:solidFill>
              </a:rPr>
              <a:t>userId</a:t>
            </a:r>
            <a:r>
              <a:rPr sz="2000" b="0">
                <a:solidFill>
                  <a:srgbClr val="1A1A1A"/>
                </a:solidFill>
              </a:rPr>
              <a:t> as the right key</a:t>
            </a:r>
          </a:p>
          <a:p>
            <a:pPr>
              <a:spcBef>
                <a:spcPts val="300"/>
              </a:spcBef>
            </a:pPr>
            <a:r>
              <a:rPr sz="2000" b="0">
                <a:solidFill>
                  <a:srgbClr val="1A1A1A"/>
                </a:solidFill>
              </a:rPr>
              <a:t>4. Ordering guarantee within a partition</a:t>
            </a:r>
          </a:p>
          <a:p>
            <a:pPr>
              <a:spcBef>
                <a:spcPts val="300"/>
              </a:spcBef>
            </a:pPr>
            <a:r>
              <a:rPr sz="2000" b="0">
                <a:solidFill>
                  <a:srgbClr val="1A1A1A"/>
                </a:solidFill>
              </a:rPr>
              <a:t>5. </a:t>
            </a:r>
            <a:r>
              <a:rPr sz="2000" b="0">
                <a:solidFill>
                  <a:srgbClr val="0F3460"/>
                </a:solidFill>
              </a:rPr>
              <a:t>null</a:t>
            </a:r>
            <a:r>
              <a:rPr sz="2000" b="0">
                <a:solidFill>
                  <a:srgbClr val="1A1A1A"/>
                </a:solidFill>
              </a:rPr>
              <a:t> key → StickyPartitioner</a:t>
            </a:r>
          </a:p>
          <a:p>
            <a:pPr>
              <a:spcBef>
                <a:spcPts val="300"/>
              </a:spcBef>
            </a:pPr>
            <a:r>
              <a:rPr sz="2000" b="0">
                <a:solidFill>
                  <a:srgbClr val="1A1A1A"/>
                </a:solidFill>
              </a:rPr>
              <a:t>6. Parallelism vs Ordering trade-off</a:t>
            </a:r>
          </a:p>
          <a:p>
            <a:pPr>
              <a:spcBef>
                <a:spcPts val="300"/>
              </a:spcBef>
            </a:pPr>
            <a:r>
              <a:rPr sz="2000" b="0">
                <a:solidFill>
                  <a:srgbClr val="1A1A1A"/>
                </a:solidFill>
              </a:rPr>
              <a:t>7. Demo: keyed batch vs round-robin</a:t>
            </a:r>
          </a:p>
          <a:p>
            <a:pPr>
              <a:spcBef>
                <a:spcPts val="300"/>
              </a:spcBef>
            </a:pPr>
            <a:r>
              <a:rPr sz="2000" b="0">
                <a:solidFill>
                  <a:srgbClr val="1A1A1A"/>
                </a:solidFill>
              </a:rPr>
              <a:t>8. </a:t>
            </a:r>
            <a:r>
              <a:rPr sz="2000" b="0">
                <a:solidFill>
                  <a:srgbClr val="0F3460"/>
                </a:solidFill>
              </a:rPr>
              <a:t>record.key()</a:t>
            </a:r>
            <a:r>
              <a:rPr sz="2000" b="0">
                <a:solidFill>
                  <a:srgbClr val="1A1A1A"/>
                </a:solidFill>
              </a:rPr>
              <a:t> in the consumer</a:t>
            </a:r>
          </a:p>
          <a:p>
            <a:pPr>
              <a:spcBef>
                <a:spcPts val="300"/>
              </a:spcBef>
            </a:pPr>
            <a:r>
              <a:rPr sz="2000" b="0">
                <a:solidFill>
                  <a:srgbClr val="1A1A1A"/>
                </a:solidFill>
              </a:rPr>
              <a:t>9. Key takeaways &amp; CCDAK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The Problem with orderId as a Key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</a:p>
          <a:p>
            <a:pPr>
              <a:spcBef>
                <a:spcPts val="700"/>
              </a:spcBef>
            </a:pPr>
            <a:r>
              <a:rPr sz="2100" b="1">
                <a:solidFill>
                  <a:srgbClr val="1A1A2E"/>
                </a:solidFill>
              </a:rPr>
              <a:t>In branch02 key = `orderId` — a unique UUID per order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D4D4D4"/>
                </a:solidFill>
                <a:latin typeface="Courier New"/>
              </a:rPr>
              <a:t>OrderCreated(orderId=order-A, userId=user-42)   → partition 2
OrderCreated(orderId=order-B, userId=user-42)   → partition 0
OrderCancelled(orderId=order-A, userId=user-42) → partition 2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600"/>
              </a:spcBef>
            </a:pPr>
          </a:p>
          <a:p>
            <a:pPr>
              <a:spcBef>
                <a:spcPts val="300"/>
              </a:spcBef>
            </a:pPr>
            <a:r>
              <a:rPr sz="2000">
                <a:solidFill>
                  <a:srgbClr val="0F3460"/>
                </a:solidFill>
              </a:rPr>
              <a:t>• </a:t>
            </a:r>
            <a:r>
              <a:rPr sz="2000" b="0">
                <a:solidFill>
                  <a:srgbClr val="1A1A1A"/>
                </a:solidFill>
              </a:rPr>
              <a:t>Different orders of the same user → </a:t>
            </a:r>
            <a:r>
              <a:rPr sz="2000" b="1">
                <a:solidFill>
                  <a:srgbClr val="1A1A1A"/>
                </a:solidFill>
              </a:rPr>
              <a:t>different partitions</a:t>
            </a:r>
          </a:p>
          <a:p>
            <a:pPr>
              <a:spcBef>
                <a:spcPts val="300"/>
              </a:spcBef>
            </a:pPr>
            <a:r>
              <a:rPr sz="2000">
                <a:solidFill>
                  <a:srgbClr val="0F3460"/>
                </a:solidFill>
              </a:rPr>
              <a:t>• </a:t>
            </a:r>
            <a:r>
              <a:rPr sz="2000" b="0">
                <a:solidFill>
                  <a:srgbClr val="1A1A1A"/>
                </a:solidFill>
              </a:rPr>
              <a:t>In a multi-consumer scenario: one user's events handled by different instances</a:t>
            </a:r>
          </a:p>
          <a:p>
            <a:pPr>
              <a:spcBef>
                <a:spcPts val="300"/>
              </a:spcBef>
            </a:pPr>
            <a:r>
              <a:rPr sz="2000">
                <a:solidFill>
                  <a:srgbClr val="0F3460"/>
                </a:solidFill>
              </a:rPr>
              <a:t>• </a:t>
            </a:r>
            <a:r>
              <a:rPr sz="2000" b="0">
                <a:solidFill>
                  <a:srgbClr val="1A1A1A"/>
                </a:solidFill>
              </a:rPr>
              <a:t>Cross-order dependencies (credit limit, saga) → ordering not guaranteed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700"/>
              </a:spcBef>
            </a:pPr>
            <a:r>
              <a:rPr sz="1800" i="1">
                <a:solidFill>
                  <a:srgbClr val="555555"/>
                </a:solidFill>
              </a:rPr>
              <a:t>▌ The problem is NOT within one order — it's between orders of the same user.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Partition Selection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</a:p>
          <a:p>
            <a:pPr>
              <a:spcBef>
                <a:spcPts val="700"/>
              </a:spcBef>
            </a:pPr>
            <a:r>
              <a:rPr sz="2100" b="1">
                <a:solidFill>
                  <a:srgbClr val="1A1A2E"/>
                </a:solidFill>
              </a:rPr>
              <a:t>Kafka DefaultPartitioner → Murmur2 hash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D4D4D4"/>
                </a:solidFill>
                <a:latin typeface="Courier New"/>
              </a:rPr>
              <a:t>partition = Math.abs(murmur2(key.getBytes())) % numPartitions
key="user-42"  →  murmur2  →  abs % 3  =  1  (ALWAYS)
key="user-99"  →  murmur2  →  abs % 3  =  0  (ALWAYS)
key=null       →  StickyPartitioner  →  round-robin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600"/>
              </a:spcBef>
            </a:pPr>
          </a:p>
          <a:p>
            <a:pPr>
              <a:spcBef>
                <a:spcPts val="600"/>
              </a:spcBef>
            </a:pPr>
          </a:p>
          <a:p>
            <a:pPr>
              <a:spcBef>
                <a:spcPts val="600"/>
              </a:spcBef>
            </a:pPr>
          </a:p>
          <a:p>
            <a:pPr>
              <a:spcBef>
                <a:spcPts val="700"/>
              </a:spcBef>
            </a:pPr>
            <a:r>
              <a:rPr sz="2100" b="1">
                <a:solidFill>
                  <a:srgbClr val="1A1A2E"/>
                </a:solidFill>
              </a:rPr>
              <a:t>Determinism:</a:t>
            </a:r>
          </a:p>
          <a:p>
            <a:pPr>
              <a:spcBef>
                <a:spcPts val="300"/>
              </a:spcBef>
            </a:pPr>
            <a:r>
              <a:rPr sz="2000">
                <a:solidFill>
                  <a:srgbClr val="0F3460"/>
                </a:solidFill>
              </a:rPr>
              <a:t>• </a:t>
            </a:r>
            <a:r>
              <a:rPr sz="2000" b="0">
                <a:solidFill>
                  <a:srgbClr val="1A1A1A"/>
                </a:solidFill>
              </a:rPr>
              <a:t>Same key → same hash → same partition</a:t>
            </a:r>
          </a:p>
          <a:p>
            <a:pPr>
              <a:spcBef>
                <a:spcPts val="300"/>
              </a:spcBef>
            </a:pPr>
            <a:r>
              <a:rPr sz="2000">
                <a:solidFill>
                  <a:srgbClr val="0F3460"/>
                </a:solidFill>
              </a:rPr>
              <a:t>• </a:t>
            </a:r>
            <a:r>
              <a:rPr sz="2000" b="0">
                <a:solidFill>
                  <a:srgbClr val="1A1A1A"/>
                </a:solidFill>
              </a:rPr>
              <a:t>Independent of time, broker restart, or producer restart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700"/>
              </a:spcBef>
            </a:pPr>
            <a:r>
              <a:rPr sz="1800" i="1">
                <a:solidFill>
                  <a:srgbClr val="555555"/>
                </a:solidFill>
              </a:rPr>
              <a:t>▌ Determinism = predictable routing = guaranteed ordering.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userId as the Right Key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</a:p>
          <a:p>
            <a:pPr>
              <a:spcBef>
                <a:spcPts val="700"/>
              </a:spcBef>
            </a:pPr>
            <a:r>
              <a:rPr sz="2100" b="1">
                <a:solidFill>
                  <a:srgbClr val="1A1A2E"/>
                </a:solidFill>
              </a:rPr>
              <a:t>With `userId` as key — all events of one user land in the same partition: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D4D4D4"/>
                </a:solidFill>
                <a:latin typeface="Courier New"/>
              </a:rPr>
              <a:t>OrderCreated(order-A, user-42)   → hash("user-42") % 3 = 1 → partition 1
OrderCreated(order-B, user-42)   → hash("user-42") % 3 = 1 → partition 1
OrderCancelled(order-A, user-42) → hash("user-42") % 3 = 1 → partition 1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600"/>
              </a:spcBef>
            </a:pPr>
          </a:p>
          <a:p>
            <a:pPr>
              <a:spcBef>
                <a:spcPts val="600"/>
              </a:spcBef>
            </a:pPr>
          </a:p>
          <a:p>
            <a:pPr>
              <a:spcBef>
                <a:spcPts val="600"/>
              </a:spcBef>
            </a:pPr>
          </a:p>
          <a:p>
            <a:pPr>
              <a:spcBef>
                <a:spcPts val="300"/>
              </a:spcBef>
            </a:pPr>
            <a:r>
              <a:rPr sz="2000">
                <a:solidFill>
                  <a:srgbClr val="0F3460"/>
                </a:solidFill>
              </a:rPr>
              <a:t>• </a:t>
            </a:r>
            <a:r>
              <a:rPr sz="2000" b="1">
                <a:solidFill>
                  <a:srgbClr val="1A1A1A"/>
                </a:solidFill>
              </a:rPr>
              <a:t>Ordering</a:t>
            </a:r>
            <a:r>
              <a:rPr sz="2000" b="0">
                <a:solidFill>
                  <a:srgbClr val="1A1A1A"/>
                </a:solidFill>
              </a:rPr>
              <a:t> across all orders of user-42 — guaranteed</a:t>
            </a:r>
          </a:p>
          <a:p>
            <a:pPr>
              <a:spcBef>
                <a:spcPts val="300"/>
              </a:spcBef>
            </a:pPr>
            <a:r>
              <a:rPr sz="2000">
                <a:solidFill>
                  <a:srgbClr val="0F3460"/>
                </a:solidFill>
              </a:rPr>
              <a:t>• </a:t>
            </a:r>
            <a:r>
              <a:rPr sz="2000" b="1">
                <a:solidFill>
                  <a:srgbClr val="1A1A1A"/>
                </a:solidFill>
              </a:rPr>
              <a:t>Multi-consumer (branch04+):</a:t>
            </a:r>
            <a:r>
              <a:rPr sz="2000" b="0">
                <a:solidFill>
                  <a:srgbClr val="1A1A1A"/>
                </a:solidFill>
              </a:rPr>
              <a:t> all user-42 events → </a:t>
            </a:r>
            <a:r>
              <a:rPr sz="2000" b="1">
                <a:solidFill>
                  <a:srgbClr val="1A1A1A"/>
                </a:solidFill>
              </a:rPr>
              <a:t>one</a:t>
            </a:r>
            <a:r>
              <a:rPr sz="2000" b="0">
                <a:solidFill>
                  <a:srgbClr val="1A1A1A"/>
                </a:solidFill>
              </a:rPr>
              <a:t> consumer instance</a:t>
            </a:r>
          </a:p>
          <a:p>
            <a:pPr>
              <a:spcBef>
                <a:spcPts val="300"/>
              </a:spcBef>
            </a:pPr>
            <a:r>
              <a:rPr sz="2000">
                <a:solidFill>
                  <a:srgbClr val="0F3460"/>
                </a:solidFill>
              </a:rPr>
              <a:t>• </a:t>
            </a:r>
            <a:r>
              <a:rPr sz="2000" b="1">
                <a:solidFill>
                  <a:srgbClr val="1A1A1A"/>
                </a:solidFill>
              </a:rPr>
              <a:t>Rule:</a:t>
            </a:r>
            <a:r>
              <a:rPr sz="2000" b="0">
                <a:solidFill>
                  <a:srgbClr val="1A1A1A"/>
                </a:solidFill>
              </a:rPr>
              <a:t> key = identifier of the entity whose ordering matters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Ordering Guarantee Within a Partition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</a:p>
          <a:p>
            <a:pPr>
              <a:spcBef>
                <a:spcPts val="700"/>
              </a:spcBef>
            </a:pPr>
            <a:r>
              <a:rPr sz="2100" b="1">
                <a:solidFill>
                  <a:srgbClr val="1A1A2E"/>
                </a:solidFill>
              </a:rPr>
              <a:t>Kafka guarantees ordering ONLY within a single partition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D4D4D4"/>
                </a:solidFill>
                <a:latin typeface="Courier New"/>
              </a:rPr>
              <a:t>Partition 0: [order-A user-99] → [order-C user-99] → [order-E user-99]
Partition 1: [order-B user-42] → [order-D user-42] → [order-F user-42]
Partition 2: [order-G user-17] → [order-H user-17]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600"/>
              </a:spcBef>
            </a:pPr>
          </a:p>
          <a:p>
            <a:pPr>
              <a:spcBef>
                <a:spcPts val="600"/>
              </a:spcBef>
            </a:pPr>
          </a:p>
          <a:p>
            <a:pPr>
              <a:spcBef>
                <a:spcPts val="600"/>
              </a:spcBef>
            </a:pPr>
          </a:p>
          <a:p>
            <a:pPr>
              <a:spcBef>
                <a:spcPts val="300"/>
              </a:spcBef>
            </a:pPr>
            <a:r>
              <a:rPr sz="2000">
                <a:solidFill>
                  <a:srgbClr val="0F3460"/>
                </a:solidFill>
              </a:rPr>
              <a:t>• </a:t>
            </a:r>
            <a:r>
              <a:rPr sz="2000" b="0">
                <a:solidFill>
                  <a:srgbClr val="1A1A1A"/>
                </a:solidFill>
              </a:rPr>
              <a:t>user-42: strict order B → D → F ✅</a:t>
            </a:r>
          </a:p>
          <a:p>
            <a:pPr>
              <a:spcBef>
                <a:spcPts val="300"/>
              </a:spcBef>
            </a:pPr>
            <a:r>
              <a:rPr sz="2000">
                <a:solidFill>
                  <a:srgbClr val="0F3460"/>
                </a:solidFill>
              </a:rPr>
              <a:t>• </a:t>
            </a:r>
            <a:r>
              <a:rPr sz="2000" b="0">
                <a:solidFill>
                  <a:srgbClr val="1A1A1A"/>
                </a:solidFill>
              </a:rPr>
              <a:t>Between user-42 and user-99: parallel processing, no ordering guarantee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700"/>
              </a:spcBef>
            </a:pPr>
            <a:r>
              <a:rPr sz="1800" i="1">
                <a:solidFill>
                  <a:srgbClr val="555555"/>
                </a:solidFill>
              </a:rPr>
              <a:t>▌ Between different partitions — ordering is never guaranteed.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null key → StickyPartitioner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</a:p>
          <a:p>
            <a:pPr>
              <a:spcBef>
                <a:spcPts val="700"/>
              </a:spcBef>
            </a:pPr>
            <a:r>
              <a:rPr sz="2100" b="1">
                <a:solidFill>
                  <a:srgbClr val="1A1A2E"/>
                </a:solidFill>
              </a:rPr>
              <a:t>When key = null, Kafka 2.4+ uses StickyPartitioner: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D4D4D4"/>
                </a:solidFill>
                <a:latin typeface="Courier New"/>
              </a:rPr>
              <a:t>batch 1: msg1, msg2, msg3  →  all to partition 0  (sticky)
batch 2: msg4, msg5        →  all to partition 2  (new batch)
batch 3: msg6              →  to partition 1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600"/>
              </a:spcBef>
            </a:pPr>
          </a:p>
          <a:p>
            <a:pPr>
              <a:spcBef>
                <a:spcPts val="600"/>
              </a:spcBef>
            </a:pPr>
          </a:p>
          <a:p>
            <a:pPr>
              <a:spcBef>
                <a:spcPts val="600"/>
              </a:spcBef>
            </a:pPr>
          </a:p>
          <a:p>
            <a:pPr>
              <a:spcBef>
                <a:spcPts val="200"/>
              </a:spcBef>
            </a:pPr>
            <a:r>
              <a:rPr sz="1700">
                <a:solidFill>
                  <a:srgbClr val="1A1A1A"/>
                </a:solidFill>
              </a:rPr>
              <a:t>[Strategy]  [Behavior]  [Ordering]</a:t>
            </a:r>
          </a:p>
          <a:p>
            <a:pPr>
              <a:spcBef>
                <a:spcPts val="200"/>
              </a:spcBef>
            </a:pPr>
            <a:r>
              <a:rPr sz="1700">
                <a:solidFill>
                  <a:srgbClr val="1A1A1A"/>
                </a:solidFill>
              </a:rPr>
              <a:t>[Key present]  [`murmur2(key) % N`]  [Guaranteed within partition]</a:t>
            </a:r>
          </a:p>
          <a:p>
            <a:pPr>
              <a:spcBef>
                <a:spcPts val="200"/>
              </a:spcBef>
            </a:pPr>
            <a:r>
              <a:rPr sz="1700">
                <a:solidFill>
                  <a:srgbClr val="1A1A1A"/>
                </a:solidFill>
              </a:rPr>
              <a:t>[`null` (2.4+)]  [StickyPartitioner]  [Not guaranteed]</a:t>
            </a:r>
          </a:p>
          <a:p>
            <a:pPr>
              <a:spcBef>
                <a:spcPts val="200"/>
              </a:spcBef>
            </a:pPr>
            <a:r>
              <a:rPr sz="1700">
                <a:solidFill>
                  <a:srgbClr val="1A1A1A"/>
                </a:solidFill>
              </a:rPr>
              <a:t>[`null` (pre-2.4)]  [Round-robin]  [Not guaranteed]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Parallelism vs Ordering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</a:p>
          <a:p>
            <a:pPr>
              <a:spcBef>
                <a:spcPts val="700"/>
              </a:spcBef>
            </a:pPr>
            <a:r>
              <a:rPr sz="2100" b="1">
                <a:solidFill>
                  <a:srgbClr val="1A1A2E"/>
                </a:solidFill>
              </a:rPr>
              <a:t>The key trade-off when choosing partition count: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D4D4D4"/>
                </a:solidFill>
                <a:latin typeface="Courier New"/>
              </a:rPr>
              <a:t>1 partition:  strict global ordering         →  1 consumer max
3 partitions: ordering within each partition →  up to 3 consumers
N partitions: higher throughput              →  up to N consumers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600"/>
              </a:spcBef>
            </a:pPr>
          </a:p>
          <a:p>
            <a:pPr>
              <a:spcBef>
                <a:spcPts val="600"/>
              </a:spcBef>
            </a:pPr>
          </a:p>
          <a:p>
            <a:pPr>
              <a:spcBef>
                <a:spcPts val="600"/>
              </a:spcBef>
            </a:pPr>
          </a:p>
          <a:p>
            <a:pPr>
              <a:spcBef>
                <a:spcPts val="300"/>
              </a:spcBef>
            </a:pPr>
            <a:r>
              <a:rPr sz="2000">
                <a:solidFill>
                  <a:srgbClr val="0F3460"/>
                </a:solidFill>
              </a:rPr>
              <a:t>• </a:t>
            </a:r>
            <a:r>
              <a:rPr sz="2000" b="0">
                <a:solidFill>
                  <a:srgbClr val="1A1A1A"/>
                </a:solidFill>
              </a:rPr>
              <a:t>More partitions = higher throughput = more parallelism</a:t>
            </a:r>
          </a:p>
          <a:p>
            <a:pPr>
              <a:spcBef>
                <a:spcPts val="300"/>
              </a:spcBef>
            </a:pPr>
            <a:r>
              <a:rPr sz="2000">
                <a:solidFill>
                  <a:srgbClr val="0F3460"/>
                </a:solidFill>
              </a:rPr>
              <a:t>• </a:t>
            </a:r>
            <a:r>
              <a:rPr sz="2000" b="0">
                <a:solidFill>
                  <a:srgbClr val="1A1A1A"/>
                </a:solidFill>
              </a:rPr>
              <a:t>But different events of one entity may be handled by different consumers</a:t>
            </a:r>
          </a:p>
          <a:p>
            <a:pPr>
              <a:spcBef>
                <a:spcPts val="300"/>
              </a:spcBef>
            </a:pPr>
            <a:r>
              <a:rPr sz="2000">
                <a:solidFill>
                  <a:srgbClr val="0F3460"/>
                </a:solidFill>
              </a:rPr>
              <a:t>• </a:t>
            </a:r>
            <a:r>
              <a:rPr sz="2000" b="1">
                <a:solidFill>
                  <a:srgbClr val="1A1A1A"/>
                </a:solidFill>
              </a:rPr>
              <a:t>Solution:</a:t>
            </a:r>
            <a:r>
              <a:rPr sz="2000" b="0">
                <a:solidFill>
                  <a:srgbClr val="1A1A1A"/>
                </a:solidFill>
              </a:rPr>
              <a:t> choose the key so the same entity always routes to the same partition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700"/>
              </a:spcBef>
            </a:pPr>
            <a:r>
              <a:rPr sz="1800" i="1">
                <a:solidFill>
                  <a:srgbClr val="555555"/>
                </a:solidFill>
              </a:rPr>
              <a:t>▌ Partition count is set upfront — changing it breaks existing key routing.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Demo — Keyed Batch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</a:p>
          <a:p>
            <a:pPr>
              <a:spcBef>
                <a:spcPts val="700"/>
              </a:spcBef>
            </a:pPr>
            <a:r>
              <a:rPr sz="2100" b="1">
                <a:solidFill>
                  <a:srgbClr val="1A1A2E"/>
                </a:solidFill>
              </a:rPr>
              <a:t>`POST /api/orders/demo/keyed` → userId=user-42, count=6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D4D4D4"/>
                </a:solidFill>
                <a:latin typeface="Courier New"/>
              </a:rPr>
              <a:t>[
  {"orderId":"uuid-1","userId":"user-42","key":"user-42","partition":1,"offset":0},
  {"orderId":"uuid-2","userId":"user-42","key":"user-42","partition":1,"offset":1},
  {"orderId":"uuid-3","userId":"user-42","key":"user-42","partition":1,"offset":2}
]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600"/>
              </a:spcBef>
            </a:pPr>
          </a:p>
          <a:p>
            <a:pPr>
              <a:spcBef>
                <a:spcPts val="300"/>
              </a:spcBef>
            </a:pPr>
            <a:r>
              <a:rPr sz="2000">
                <a:solidFill>
                  <a:srgbClr val="0F3460"/>
                </a:solidFill>
              </a:rPr>
              <a:t>• </a:t>
            </a:r>
            <a:r>
              <a:rPr sz="2000" b="0">
                <a:solidFill>
                  <a:srgbClr val="1A1A1A"/>
                </a:solidFill>
              </a:rPr>
              <a:t>All 6 messages → </a:t>
            </a:r>
            <a:r>
              <a:rPr sz="2000" b="1">
                <a:solidFill>
                  <a:srgbClr val="1A1A1A"/>
                </a:solidFill>
              </a:rPr>
              <a:t>partition 1</a:t>
            </a:r>
          </a:p>
          <a:p>
            <a:pPr>
              <a:spcBef>
                <a:spcPts val="300"/>
              </a:spcBef>
            </a:pPr>
            <a:r>
              <a:rPr sz="2000">
                <a:solidFill>
                  <a:srgbClr val="0F3460"/>
                </a:solidFill>
              </a:rPr>
              <a:t>• </a:t>
            </a:r>
            <a:r>
              <a:rPr sz="2000" b="0">
                <a:solidFill>
                  <a:srgbClr val="0F3460"/>
                </a:solidFill>
              </a:rPr>
              <a:t>hash("user-42") % 3 = 1</a:t>
            </a:r>
            <a:r>
              <a:rPr sz="2000" b="0">
                <a:solidFill>
                  <a:srgbClr val="1A1A1A"/>
                </a:solidFill>
              </a:rPr>
              <a:t> — computed once, always stable</a:t>
            </a:r>
          </a:p>
          <a:p>
            <a:pPr>
              <a:spcBef>
                <a:spcPts val="300"/>
              </a:spcBef>
            </a:pPr>
            <a:r>
              <a:rPr sz="2000">
                <a:solidFill>
                  <a:srgbClr val="0F3460"/>
                </a:solidFill>
              </a:rPr>
              <a:t>• </a:t>
            </a:r>
            <a:r>
              <a:rPr sz="2000" b="0">
                <a:solidFill>
                  <a:srgbClr val="1A1A1A"/>
                </a:solidFill>
              </a:rPr>
              <a:t>Kafka UI: </a:t>
            </a:r>
            <a:r>
              <a:rPr sz="2000" b="1">
                <a:solidFill>
                  <a:srgbClr val="1A1A1A"/>
                </a:solidFill>
              </a:rPr>
              <a:t>Key</a:t>
            </a:r>
            <a:r>
              <a:rPr sz="2000" b="0">
                <a:solidFill>
                  <a:srgbClr val="1A1A1A"/>
                </a:solidFill>
              </a:rPr>
              <a:t> column = </a:t>
            </a:r>
            <a:r>
              <a:rPr sz="2000" b="0">
                <a:solidFill>
                  <a:srgbClr val="0F3460"/>
                </a:solidFill>
              </a:rPr>
              <a:t>"user-42"</a:t>
            </a:r>
            <a:r>
              <a:rPr sz="2000" b="0">
                <a:solidFill>
                  <a:srgbClr val="1A1A1A"/>
                </a:solidFill>
              </a:rPr>
              <a:t>, </a:t>
            </a:r>
            <a:r>
              <a:rPr sz="2000" b="1">
                <a:solidFill>
                  <a:srgbClr val="1A1A1A"/>
                </a:solidFill>
              </a:rPr>
              <a:t>Partition</a:t>
            </a:r>
            <a:r>
              <a:rPr sz="2000" b="0">
                <a:solidFill>
                  <a:srgbClr val="1A1A1A"/>
                </a:solidFill>
              </a:rPr>
              <a:t> column = </a:t>
            </a:r>
            <a:r>
              <a:rPr sz="2000" b="0">
                <a:solidFill>
                  <a:srgbClr val="0F3460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Demo — Round-Robin Batch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</a:p>
          <a:p>
            <a:pPr>
              <a:spcBef>
                <a:spcPts val="700"/>
              </a:spcBef>
            </a:pPr>
            <a:r>
              <a:rPr sz="2100" b="1">
                <a:solidFill>
                  <a:srgbClr val="1A1A2E"/>
                </a:solidFill>
              </a:rPr>
              <a:t>`POST /api/orders/demo/round-robin` → key=null, count=6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D4D4D4"/>
                </a:solidFill>
                <a:latin typeface="Courier New"/>
              </a:rPr>
              <a:t>[
  {"orderId":"uuid-1","key":null,"partition":0,"offset":0},
  {"orderId":"uuid-2","key":null,"partition":1,"offset":6},
  {"orderId":"uuid-3","key":null,"partition":2,"offset":0}
]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600"/>
              </a:spcBef>
            </a:pPr>
          </a:p>
          <a:p>
            <a:pPr>
              <a:spcBef>
                <a:spcPts val="600"/>
              </a:spcBef>
            </a:pPr>
          </a:p>
          <a:p>
            <a:pPr>
              <a:spcBef>
                <a:spcPts val="600"/>
              </a:spcBef>
            </a:pPr>
          </a:p>
          <a:p>
            <a:pPr>
              <a:spcBef>
                <a:spcPts val="300"/>
              </a:spcBef>
            </a:pPr>
            <a:r>
              <a:rPr sz="2000">
                <a:solidFill>
                  <a:srgbClr val="0F3460"/>
                </a:solidFill>
              </a:rPr>
              <a:t>• </a:t>
            </a:r>
            <a:r>
              <a:rPr sz="2000" b="0">
                <a:solidFill>
                  <a:srgbClr val="1A1A1A"/>
                </a:solidFill>
              </a:rPr>
              <a:t>Messages distributed across </a:t>
            </a:r>
            <a:r>
              <a:rPr sz="2000" b="1">
                <a:solidFill>
                  <a:srgbClr val="1A1A1A"/>
                </a:solidFill>
              </a:rPr>
              <a:t>0, 1, 2</a:t>
            </a:r>
          </a:p>
          <a:p>
            <a:pPr>
              <a:spcBef>
                <a:spcPts val="300"/>
              </a:spcBef>
            </a:pPr>
            <a:r>
              <a:rPr sz="2000">
                <a:solidFill>
                  <a:srgbClr val="0F3460"/>
                </a:solidFill>
              </a:rPr>
              <a:t>• </a:t>
            </a:r>
            <a:r>
              <a:rPr sz="2000" b="0">
                <a:solidFill>
                  <a:srgbClr val="1A1A1A"/>
                </a:solidFill>
              </a:rPr>
              <a:t>Kafka UI: </a:t>
            </a:r>
            <a:r>
              <a:rPr sz="2000" b="1">
                <a:solidFill>
                  <a:srgbClr val="1A1A1A"/>
                </a:solidFill>
              </a:rPr>
              <a:t>Key</a:t>
            </a:r>
            <a:r>
              <a:rPr sz="2000" b="0">
                <a:solidFill>
                  <a:srgbClr val="1A1A1A"/>
                </a:solidFill>
              </a:rPr>
              <a:t> column is empty</a:t>
            </a:r>
          </a:p>
          <a:p>
            <a:pPr>
              <a:spcBef>
                <a:spcPts val="300"/>
              </a:spcBef>
            </a:pPr>
            <a:r>
              <a:rPr sz="2000">
                <a:solidFill>
                  <a:srgbClr val="0F3460"/>
                </a:solidFill>
              </a:rPr>
              <a:t>• </a:t>
            </a:r>
            <a:r>
              <a:rPr sz="2000" b="0">
                <a:solidFill>
                  <a:srgbClr val="1A1A1A"/>
                </a:solidFill>
              </a:rPr>
              <a:t>Same userId, but no key → ordering not guaranteed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record.key() in the Consumer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</a:p>
          <a:p>
            <a:pPr>
              <a:spcBef>
                <a:spcPts val="700"/>
              </a:spcBef>
            </a:pPr>
            <a:r>
              <a:rPr sz="2100" b="1">
                <a:solidFill>
                  <a:srgbClr val="1A1A2E"/>
                </a:solidFill>
              </a:rPr>
              <a:t>The consumer sees the producer's routing decision via `record.key()`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D4D4D4"/>
                </a:solidFill>
                <a:latin typeface="Courier New"/>
              </a:rPr>
              <a:t>@KafkaListener(topics = ["03.orders.created"])
fun handleOrderCreated(record: ConsumerRecord&lt;String, OrderCreatedEvent&gt;) {
    log.info("║  Key: {}  →  Partition: {}  Offset: {}",
        record.key(), record.partition(), record.offset())
}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600"/>
              </a:spcBef>
            </a:pPr>
          </a:p>
          <a:p>
            <a:pPr>
              <a:spcBef>
                <a:spcPts val="300"/>
              </a:spcBef>
            </a:pPr>
            <a:r>
              <a:rPr sz="2000" b="0">
                <a:solidFill>
                  <a:srgbClr val="1A1A1A"/>
                </a:solidFill>
              </a:rPr>
              <a:t>Log for a keyed message: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D4D4D4"/>
                </a:solidFill>
                <a:latin typeface="Courier New"/>
              </a:rPr>
              <a:t>║  Key: user-42  →  Partition: 1  Offset: 0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600"/>
              </a:spcBef>
            </a:pPr>
          </a:p>
          <a:p>
            <a:pPr>
              <a:spcBef>
                <a:spcPts val="300"/>
              </a:spcBef>
            </a:pPr>
            <a:r>
              <a:rPr sz="2000" b="0">
                <a:solidFill>
                  <a:srgbClr val="1A1A1A"/>
                </a:solidFill>
              </a:rPr>
              <a:t>Log for a null-key message: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D4D4D4"/>
                </a:solidFill>
                <a:latin typeface="Courier New"/>
              </a:rPr>
              <a:t>║  Key: null  →  Partition: 2  Offset: 0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600"/>
              </a:spcBef>
            </a:pPr>
          </a:p>
          <a:p>
            <a:pPr>
              <a:spcBef>
                <a:spcPts val="700"/>
              </a:spcBef>
            </a:pPr>
            <a:r>
              <a:rPr sz="1800" i="1">
                <a:solidFill>
                  <a:srgbClr val="555555"/>
                </a:solidFill>
              </a:rPr>
              <a:t>▌ Useful for debugging: shows exactly why a message landed in that partition.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</a:p>
          <a:p>
            <a:pPr>
              <a:spcBef>
                <a:spcPts val="300"/>
              </a:spcBef>
            </a:pPr>
            <a:r>
              <a:rPr sz="2000">
                <a:solidFill>
                  <a:srgbClr val="0F3460"/>
                </a:solidFill>
              </a:rPr>
              <a:t>• </a:t>
            </a:r>
            <a:r>
              <a:rPr sz="2000" b="1">
                <a:solidFill>
                  <a:srgbClr val="1A1A1A"/>
                </a:solidFill>
              </a:rPr>
              <a:t>Murmur2 hash</a:t>
            </a:r>
            <a:r>
              <a:rPr sz="2000" b="0">
                <a:solidFill>
                  <a:srgbClr val="1A1A1A"/>
                </a:solidFill>
              </a:rPr>
              <a:t> — partition selection algorithm; deterministic and stable</a:t>
            </a:r>
          </a:p>
          <a:p>
            <a:pPr>
              <a:spcBef>
                <a:spcPts val="300"/>
              </a:spcBef>
            </a:pPr>
            <a:r>
              <a:rPr sz="2000">
                <a:solidFill>
                  <a:srgbClr val="0F3460"/>
                </a:solidFill>
              </a:rPr>
              <a:t>• </a:t>
            </a:r>
            <a:r>
              <a:rPr sz="2000" b="1">
                <a:solidFill>
                  <a:srgbClr val="1A1A1A"/>
                </a:solidFill>
              </a:rPr>
              <a:t>userId &gt; orderId</a:t>
            </a:r>
            <a:r>
              <a:rPr sz="2000" b="0">
                <a:solidFill>
                  <a:srgbClr val="1A1A1A"/>
                </a:solidFill>
              </a:rPr>
              <a:t> — all events of one user in one partition, one consumer instance</a:t>
            </a:r>
          </a:p>
          <a:p>
            <a:pPr>
              <a:spcBef>
                <a:spcPts val="300"/>
              </a:spcBef>
            </a:pPr>
            <a:r>
              <a:rPr sz="2000">
                <a:solidFill>
                  <a:srgbClr val="0F3460"/>
                </a:solidFill>
              </a:rPr>
              <a:t>• </a:t>
            </a:r>
            <a:r>
              <a:rPr sz="2000" b="1">
                <a:solidFill>
                  <a:srgbClr val="1A1A1A"/>
                </a:solidFill>
              </a:rPr>
              <a:t>Ordering</a:t>
            </a:r>
            <a:r>
              <a:rPr sz="2000" b="0">
                <a:solidFill>
                  <a:srgbClr val="1A1A1A"/>
                </a:solidFill>
              </a:rPr>
              <a:t> is guaranteed ONLY within a single partition</a:t>
            </a:r>
          </a:p>
          <a:p>
            <a:pPr>
              <a:spcBef>
                <a:spcPts val="300"/>
              </a:spcBef>
            </a:pPr>
            <a:r>
              <a:rPr sz="2000">
                <a:solidFill>
                  <a:srgbClr val="0F3460"/>
                </a:solidFill>
              </a:rPr>
              <a:t>• </a:t>
            </a:r>
            <a:r>
              <a:rPr sz="2000" b="1">
                <a:solidFill>
                  <a:srgbClr val="1A1A1A"/>
                </a:solidFill>
              </a:rPr>
              <a:t>null key</a:t>
            </a:r>
            <a:r>
              <a:rPr sz="2000" b="0">
                <a:solidFill>
                  <a:srgbClr val="1A1A1A"/>
                </a:solidFill>
              </a:rPr>
              <a:t> → StickyPartitioner (Kafka 2.4+): even distribution, no ordering</a:t>
            </a:r>
          </a:p>
          <a:p>
            <a:pPr>
              <a:spcBef>
                <a:spcPts val="300"/>
              </a:spcBef>
            </a:pPr>
            <a:r>
              <a:rPr sz="2000">
                <a:solidFill>
                  <a:srgbClr val="0F3460"/>
                </a:solidFill>
              </a:rPr>
              <a:t>• </a:t>
            </a:r>
            <a:r>
              <a:rPr sz="2000" b="1">
                <a:solidFill>
                  <a:srgbClr val="1A1A1A"/>
                </a:solidFill>
              </a:rPr>
              <a:t>Hot partition</a:t>
            </a:r>
            <a:r>
              <a:rPr sz="2000" b="0">
                <a:solidFill>
                  <a:srgbClr val="1A1A1A"/>
                </a:solidFill>
              </a:rPr>
              <a:t> — anti-pattern: one key for all = one overloaded partition</a:t>
            </a:r>
          </a:p>
          <a:p>
            <a:pPr>
              <a:spcBef>
                <a:spcPts val="300"/>
              </a:spcBef>
            </a:pPr>
            <a:r>
              <a:rPr sz="2000">
                <a:solidFill>
                  <a:srgbClr val="0F3460"/>
                </a:solidFill>
              </a:rPr>
              <a:t>• </a:t>
            </a:r>
            <a:r>
              <a:rPr sz="2000" b="1">
                <a:solidFill>
                  <a:srgbClr val="1A1A1A"/>
                </a:solidFill>
              </a:rPr>
              <a:t>Increasing partitions</a:t>
            </a:r>
            <a:r>
              <a:rPr sz="2000" b="0">
                <a:solidFill>
                  <a:srgbClr val="1A1A1A"/>
                </a:solidFill>
              </a:rPr>
              <a:t> changes routing of existing keys — plan upfront</a:t>
            </a:r>
          </a:p>
          <a:p>
            <a:pPr>
              <a:spcBef>
                <a:spcPts val="300"/>
              </a:spcBef>
            </a:pPr>
            <a:r>
              <a:rPr sz="2000">
                <a:solidFill>
                  <a:srgbClr val="0F3460"/>
                </a:solidFill>
              </a:rPr>
              <a:t>• </a:t>
            </a:r>
            <a:r>
              <a:rPr sz="2000" b="1">
                <a:solidFill>
                  <a:srgbClr val="1A1A1A"/>
                </a:solidFill>
              </a:rPr>
              <a:t>`record.key()`</a:t>
            </a:r>
            <a:r>
              <a:rPr sz="2000" b="0">
                <a:solidFill>
                  <a:srgbClr val="1A1A1A"/>
                </a:solidFill>
              </a:rPr>
              <a:t> in consumer — for debugging routing decisions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600"/>
              </a:spcBef>
            </a:pPr>
          </a:p>
          <a:p>
            <a:pPr>
              <a:spcBef>
                <a:spcPts val="600"/>
              </a:spcBef>
            </a:pPr>
          </a:p>
          <a:p>
            <a:pPr>
              <a:spcBef>
                <a:spcPts val="700"/>
              </a:spcBef>
            </a:pPr>
            <a:r>
              <a:rPr sz="1800" i="1">
                <a:solidFill>
                  <a:srgbClr val="555555"/>
                </a:solidFill>
              </a:rPr>
              <a:t>▌ Key selection is a **business decision**: it determines correctness of your business logic.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What's Next — Branch 04: Consumer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- 3 instances of `notification-service` in one consumer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- Each instance reads **1 partition** from `03.orders.created`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- Stop one instance → **rebalance** → partitions redistributed automatically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- `RangeAssignor` vs `RoundRobinAssignor`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57784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&lt;br&gt;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400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Questions?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722376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Branch 03 — Message Keys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772668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`hash(key) % numPartitions` · `userId` · `StickyPartitioner`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854964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Apache Kafka for Certification &amp; Production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