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4400">
                <a:solidFill>
                  <a:srgbClr val="FFFFFF"/>
                </a:solidFill>
                <a:latin typeface="Segoe UI"/>
              </a:rPr>
              <a:t>Branch 04</a:t>
            </a:r>
          </a:p>
          <a:p>
            <a:pPr algn="ctr"/>
            <a:r>
              <a:rPr b="0" sz="4400">
                <a:solidFill>
                  <a:srgbClr val="FFFFFF"/>
                </a:solidFill>
                <a:latin typeface="Segoe UI"/>
              </a:rPr>
              <a:t>Consumer Groups</a:t>
            </a:r>
          </a:p>
          <a:p>
            <a:pPr algn="ctr"/>
            <a:r>
              <a:rPr b="1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sz="2200">
                <a:solidFill>
                  <a:srgbClr val="1A1A2E"/>
                </a:solidFill>
                <a:latin typeface="Segoe UI"/>
              </a:rPr>
              <a:t>Why branch03 wasn't enough</a:t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sz="2200">
                <a:solidFill>
                  <a:srgbClr val="1A1A2E"/>
                </a:solidFill>
                <a:latin typeface="Segoe UI"/>
              </a:rPr>
              <a:t>Consumer Group — the fundamental rule</a:t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sz="2200">
                <a:solidFill>
                  <a:srgbClr val="1A1A2E"/>
                </a:solidFill>
                <a:latin typeface="Segoe UI"/>
              </a:rPr>
              <a:t>Partition assignment strategies: RangeAssignor vs RoundRobinAssignor</a:t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sz="2200">
                <a:solidFill>
                  <a:srgbClr val="1A1A2E"/>
                </a:solidFill>
                <a:latin typeface="Segoe UI"/>
              </a:rPr>
              <a:t>Rebalance — what, when, and how</a:t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sz="2200">
                <a:solidFill>
                  <a:srgbClr val="1A1A2E"/>
                </a:solidFill>
                <a:latin typeface="Segoe UI"/>
              </a:rPr>
              <a:t>Static Group Membership</a:t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sz="2200">
                <a:solidFill>
                  <a:srgbClr val="1A1A2E"/>
                </a:solidFill>
                <a:latin typeface="Segoe UI"/>
              </a:rPr>
              <a:t>`ConsumerSeekAware` — tracking rebalance events</a:t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sz="2200">
                <a:solidFill>
                  <a:srgbClr val="1A1A2E"/>
                </a:solidFill>
                <a:latin typeface="Segoe UI"/>
              </a:rPr>
              <a:t>`INSTANCE_ID` — one image, many instances</a:t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sz="2200">
                <a:solidFill>
                  <a:srgbClr val="1A1A2E"/>
                </a:solidFill>
                <a:latin typeface="Segoe UI"/>
              </a:rPr>
              <a:t>Consumer Lag — monitoring group health</a:t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Segoe UI"/>
              </a:rPr>
              <a:t>Branch03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One notification-service reads all 3 partitions:</a:t>
            </a:r>
          </a:p>
          <a:p>
            <a: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1 notification-service → partition 0 + partition 1 + partition 2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Max throughput = speed of a single consumer</a:t>
            </a:r>
          </a:p>
          <a:p/>
          <a:p>
            <a:r>
              <a:t/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sz="2200">
                <a:solidFill>
                  <a:srgbClr val="1A1A2E"/>
                </a:solidFill>
                <a:latin typeface="Segoe UI"/>
              </a:rPr>
              <a:t>All processing bottlenecked by one process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sz="2200">
                <a:solidFill>
                  <a:srgbClr val="1A1A2E"/>
                </a:solidFill>
                <a:latin typeface="Segoe UI"/>
              </a:rPr>
              <a:t>Single point of failure — if it crashes, </a:t>
            </a:r>
            <a:r>
              <a:rPr b="1" sz="2200">
                <a:solidFill>
                  <a:srgbClr val="1A1A2E"/>
                </a:solidFill>
                <a:latin typeface="Segoe UI"/>
              </a:rPr>
              <a:t>all reading stops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sz="2200">
                <a:solidFill>
                  <a:srgbClr val="1A1A2E"/>
                </a:solidFill>
                <a:latin typeface="Segoe UI"/>
              </a:rPr>
              <a:t>No parallel processing despite having 3 partitions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algn="l"/>
            <a:r>
              <a:rPr b="1" i="1" sz="2000">
                <a:solidFill>
                  <a:srgbClr val="555555"/>
                </a:solidFill>
                <a:latin typeface="Segoe UI"/>
              </a:rPr>
              <a:t>Solution:</a:t>
            </a:r>
            <a:r>
              <a:rPr b="0" i="1" sz="2000">
                <a:solidFill>
                  <a:srgbClr val="555555"/>
                </a:solidFill>
                <a:latin typeface="Segoe UI"/>
              </a:rPr>
              <a:t> run multiple instances in one </a:t>
            </a:r>
            <a:r>
              <a:rPr b="1" i="1" sz="2000">
                <a:solidFill>
                  <a:srgbClr val="555555"/>
                </a:solidFill>
                <a:latin typeface="Segoe UI"/>
              </a:rPr>
              <a:t>Consumer Group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Segoe UI"/>
              </a:rPr>
              <a:t>Consumer Group — The Fundamental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One partition is read by exactly one consumer in the group at a time</a:t>
            </a:r>
          </a:p>
          <a:p>
            <a: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3 partitions + 3 consumers → 1:1 (optimal)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notification-service-1 → orders.created[0]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notification-service-2 → orders.created[1]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notification-service-3 → orders.created[2]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3 partitions + 4 consumers → one sits idle: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notification-service-4 → (idle, no partition assigned)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3 partitions + 2 consumers → one reads two partitions: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notification-service-1 → orders.created[0] + orders.created[1]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notification-service-2 → orders.created[2]</a:t>
            </a:r>
          </a:p>
          <a:p/>
          <a:p>
            <a:r>
              <a:t/>
            </a:r>
          </a:p>
          <a:p>
            <a:pPr algn="l"/>
            <a:r>
              <a:rPr b="1" i="1" sz="2000">
                <a:solidFill>
                  <a:srgbClr val="555555"/>
                </a:solidFill>
                <a:latin typeface="Segoe UI"/>
              </a:rPr>
              <a:t>Rule:</a:t>
            </a:r>
            <a:r>
              <a:rPr b="0" i="1" sz="2000">
                <a:solidFill>
                  <a:srgbClr val="555555"/>
                </a:solidFill>
                <a:latin typeface="Segoe UI"/>
              </a:rPr>
              <a:t> you cannot have more useful consumers than partitions.</a:t>
            </a:r>
          </a:p>
          <a:p>
            <a:pPr algn="l"/>
            <a:r>
              <a:rPr b="0" i="1" sz="2000">
                <a:solidFill>
                  <a:srgbClr val="555555"/>
                </a:solidFill>
                <a:latin typeface="Segoe UI"/>
              </a:rPr>
              <a:t>❝ Extra consumers wait idle.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Segoe UI"/>
              </a:rPr>
              <a:t>RangeAssignor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Default strategy in Spring Kafka</a:t>
            </a:r>
          </a:p>
          <a:p>
            <a: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Topics: orders.created (3 partitions), orders.cancelled (1 partition)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Consumers: C1, C2, C3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RangeAssignor — assigns each topic's partitions independently: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C1 → orders.created[0], orders.cancelled[0]   ← gets the remainder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C2 → orders.created[1]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C3 → orders.created[2]</a:t>
            </a:r>
          </a:p>
          <a:p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RoundRobinAssignor — merges all partitions, distributes in turn:</a:t>
            </a:r>
          </a:p>
          <a:p>
            <a: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C1 → orders.created[0], orders.created[2]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C2 → orders.created[1], orders.cancelled[0]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C3 → (idle if only 4 partitions total)</a:t>
            </a:r>
          </a:p>
          <a:p/>
          <a:p>
            <a:r>
              <a:t/>
            </a:r>
          </a:p>
          <a:p>
            <a:pPr algn="l"/>
            <a:r>
              <a:rPr b="1" i="1" sz="2000">
                <a:solidFill>
                  <a:srgbClr val="555555"/>
                </a:solidFill>
                <a:latin typeface="Segoe UI"/>
              </a:rPr>
              <a:t>Downside of RangeAssignor:</a:t>
            </a:r>
            <a:r>
              <a:rPr b="0" i="1" sz="2000">
                <a:solidFill>
                  <a:srgbClr val="555555"/>
                </a:solidFill>
                <a:latin typeface="Segoe UI"/>
              </a:rPr>
              <a:t> C1 always gets the "overflow"</a:t>
            </a:r>
          </a:p>
          <a:p>
            <a:pPr algn="l"/>
            <a:r>
              <a:rPr b="0" i="1" sz="2000">
                <a:solidFill>
                  <a:srgbClr val="555555"/>
                </a:solidFill>
                <a:latin typeface="Segoe UI"/>
              </a:rPr>
              <a:t>❝ when partition count doesn't divide evenly.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Segoe UI"/>
              </a:rPr>
              <a:t>Rebalance — 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Rebalance = redistribution of partitions when group membership changes</a:t>
            </a:r>
          </a:p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Triggers: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sz="2200">
                <a:solidFill>
                  <a:srgbClr val="1A1A2E"/>
                </a:solidFill>
                <a:latin typeface="Segoe UI"/>
              </a:rPr>
              <a:t>New consumer joins the group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sz="2200">
                <a:solidFill>
                  <a:srgbClr val="1A1A2E"/>
                </a:solidFill>
                <a:latin typeface="Segoe UI"/>
              </a:rPr>
              <a:t>Consumer disconnects (crash or graceful shutdown)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Eager Rebalance (RangeAssignor behavior):</a:t>
            </a:r>
          </a:p>
          <a:p>
            <a: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Step 1: ALL consumers stop reading → [REVOKED] for everyone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Step 2: Kafka recalculates assignments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Step 3: All consumers receive new assignments → [ASSIGNED]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Step 4: Reading resumes</a:t>
            </a:r>
          </a:p>
          <a:p/>
          <a:p>
            <a:r>
              <a:t/>
            </a:r>
          </a:p>
          <a:p>
            <a:pPr algn="l"/>
            <a:r>
              <a:rPr b="0" i="1" sz="2000">
                <a:solidFill>
                  <a:srgbClr val="555555"/>
                </a:solidFill>
                <a:latin typeface="Segoe UI"/>
              </a:rPr>
              <a:t>❝ "Stop the world" pause — Consumer Lag grows during rebalance.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Segoe UI"/>
              </a:rPr>
              <a:t>Rebalance —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Stop `notification-service-3`:</a:t>
            </a:r>
          </a:p>
          <a:p>
            <a: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docker stop notification-service-3-b04</a:t>
            </a:r>
          </a:p>
          <a:p/>
          <a:p>
            <a:r>
              <a:t/>
            </a:r>
          </a:p>
          <a:p>
            <a:r>
              <a:rPr b="0" sz="2200">
                <a:solidFill>
                  <a:srgbClr val="1A1A2E"/>
                </a:solidFill>
                <a:latin typeface="Segoe UI"/>
              </a:rPr>
              <a:t>Kafka waits `session.timeout.ms` (~45 seconds), then:</a:t>
            </a:r>
          </a:p>
          <a:p>
            <a: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Before: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service-1 → orders.cancelled[0], orders.created[0]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service-2 → orders.created[1]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service-3 → orders.created[2]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After rebalance: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service-1 → orders.cancelled[0], orders.created[0]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service-2 → orders.created[1], orders.created[2]   ← now reads 2 partitions</a:t>
            </a:r>
          </a:p>
          <a:p/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Restart → another rebalance → back to 1:1 distribution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Segoe UI"/>
              </a:rPr>
              <a:t>Static Group Membership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`group.instance.id` — minimize rebalance on restart</a:t>
            </a:r>
          </a:p>
          <a:p>
            <a: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spring: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kafka: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  consumer: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    properties: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      group.instance.id: notification-service-1</a:t>
            </a:r>
          </a:p>
          <a:p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Without static membership: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sz="2200">
                <a:solidFill>
                  <a:srgbClr val="1A1A2E"/>
                </a:solidFill>
                <a:latin typeface="Segoe UI"/>
              </a:rPr>
              <a:t>Consumer stops → after `session.timeout.ms` Kafka triggers rebalance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sz="2200">
                <a:solidFill>
                  <a:srgbClr val="1A1A2E"/>
                </a:solidFill>
                <a:latin typeface="Segoe UI"/>
              </a:rPr>
              <a:t>Consumer returns → may receive </a:t>
            </a:r>
            <a:r>
              <a:rPr b="1" sz="2200">
                <a:solidFill>
                  <a:srgbClr val="1A1A2E"/>
                </a:solidFill>
                <a:latin typeface="Segoe UI"/>
              </a:rPr>
              <a:t>different</a:t>
            </a:r>
            <a:r>
              <a:rPr b="0" sz="2200">
                <a:solidFill>
                  <a:srgbClr val="1A1A2E"/>
                </a:solidFill>
                <a:latin typeface="Segoe UI"/>
              </a:rPr>
              <a:t> partitions</a:t>
            </a:r>
          </a:p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With static membership: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sz="2200">
                <a:solidFill>
                  <a:srgbClr val="1A1A2E"/>
                </a:solidFill>
                <a:latin typeface="Segoe UI"/>
              </a:rPr>
              <a:t>Consumer stops → Kafka waits `session.timeout.ms`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sz="2200">
                <a:solidFill>
                  <a:srgbClr val="1A1A2E"/>
                </a:solidFill>
                <a:latin typeface="Segoe UI"/>
              </a:rPr>
              <a:t>Consumer returns within that window → </a:t>
            </a:r>
            <a:r>
              <a:rPr b="1" sz="2200">
                <a:solidFill>
                  <a:srgbClr val="1A1A2E"/>
                </a:solidFill>
                <a:latin typeface="Segoe UI"/>
              </a:rPr>
              <a:t>same partitions, no rebalance</a:t>
            </a:r>
          </a:p>
          <a:p>
            <a:r>
              <a:t/>
            </a:r>
          </a:p>
          <a:p>
            <a:pPr algn="l"/>
            <a:r>
              <a:rPr b="0" i="1" sz="2000">
                <a:solidFill>
                  <a:srgbClr val="555555"/>
                </a:solidFill>
                <a:latin typeface="Segoe UI"/>
              </a:rPr>
              <a:t>❝ Critical for Kubernetes rolling deploys and short restarts.</a:t>
            </a:r>
          </a:p>
          <a:p>
            <a:pPr algn="l"/>
            <a:r>
              <a:rPr b="0" i="1" sz="2000">
                <a:solidFill>
                  <a:srgbClr val="555555"/>
                </a:solidFill>
                <a:latin typeface="Segoe UI"/>
              </a:rPr>
              <a:t>❝ Branch04 does NOT use it — `FencedInstanceIdException` with 2 listeners. Fixed in branch08.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Segoe UI"/>
              </a:rPr>
              <a:t>ConsumerSeekAware — Tracking Rebalance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Spring Kafka interface for partition assignment events</a:t>
            </a:r>
          </a:p>
          <a:p>
            <a: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class OrderEventListener(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  @Value("\${instance.id}") private val instanceId: String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) : ConsumerSeekAware {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  override fun onPartitionsAssigned(assignments, callback) {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      log.info("[ASSIGNED] Instance [{}]: {}", instanceId,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          assignments.keys.map { "${it.topic()}[${it.partition()}]" })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  override fun onPartitionsRevoked(partitions) {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      log.info("[REVOKED] Instance [{}]: {}", instanceId,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          partitions.map { "${it.topic()}[${it.partition()}]" })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}</a:t>
            </a:r>
          </a:p>
          <a:p/>
          <a:p>
            <a:r>
              <a:t/>
            </a:r>
          </a:p>
          <a:p>
            <a:pPr algn="l"/>
            <a:r>
              <a:rPr b="0" i="1" sz="2000">
                <a:solidFill>
                  <a:srgbClr val="555555"/>
                </a:solidFill>
                <a:latin typeface="Segoe UI"/>
              </a:rPr>
              <a:t>❝ Use `onPartitionsRevoked` to flush buffers or save state</a:t>
            </a:r>
          </a:p>
          <a:p>
            <a:pPr algn="l"/>
            <a:r>
              <a:rPr b="0" i="1" sz="2000">
                <a:solidFill>
                  <a:srgbClr val="555555"/>
                </a:solidFill>
                <a:latin typeface="Segoe UI"/>
              </a:rPr>
              <a:t>❝ before losing partition ownership.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Segoe UI"/>
              </a:rPr>
              <a:t>INSTANCE_ID — One Image, Many Instances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One Docker image runs as three separate instances:</a:t>
            </a:r>
          </a:p>
          <a:p>
            <a: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notification-service-1: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build: branch04_customer_groups/notification-service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ports: ["8082:8082"]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environment: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  - INSTANCE_ID=notification-service-1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notification-service-2: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ports: ["8083:8082"]      # external 8083 → internal 8082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environment: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  - INSTANCE_ID=notification-service-2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notification-service-3: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ports: ["8084:8082"]      # external 8084 → internal 8082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environment: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  - INSTANCE_ID=notification-service-3</a:t>
            </a:r>
          </a:p>
          <a:p/>
          <a:p>
            <a:r>
              <a:t/>
            </a:r>
          </a:p>
          <a:p>
            <a:r>
              <a:rPr b="1" sz="2200">
                <a:solidFill>
                  <a:srgbClr val="1A1A2E"/>
                </a:solidFill>
                <a:latin typeface="Segoe UI"/>
              </a:rPr>
              <a:t>New endpoint:</a:t>
            </a:r>
            <a:r>
              <a:rPr b="0" sz="2200">
                <a:solidFill>
                  <a:srgbClr val="1A1A2E"/>
                </a:solidFill>
                <a:latin typeface="Segoe UI"/>
              </a:rPr>
              <a:t> `GET /api/notifications/partitions`</a:t>
            </a:r>
          </a:p>
          <a:p>
            <a: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{"instanceId":"notification-service-2","assignedPartitions":["orders.created[1]"],"count":1}</a:t>
            </a:r>
          </a:p>
          <a:p/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Segoe UI"/>
              </a:rPr>
              <a:t>Consumer Lag — Monitoring Group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`kafka-consumer-groups --describe` — the essential monitoring command:</a:t>
            </a:r>
          </a:p>
          <a:p>
            <a: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docker exec kafka kafka-consumer-groups \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--bootstrap-server localhost:9092 \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  --describe --group notification-service-group</a:t>
            </a:r>
          </a:p>
          <a:p/>
          <a:p>
            <a:r>
              <a:t/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GROUP                      TOPIC             PARTITION  CURRENT-OFFSET  LOG-END-OFFSET  LAG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notification-service-group 04.orders.created 0          6               6               0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notification-service-group 04.orders.created 1          4               4               0</a:t>
            </a:r>
          </a:p>
          <a:p>
            <a:r>
              <a:rPr sz="1300" b="0">
                <a:solidFill>
                  <a:srgbClr val="D4D4D4"/>
                </a:solidFill>
                <a:latin typeface="Consolas"/>
              </a:rPr>
              <a:t>notification-service-group 04.orders.created 2          5               5               0</a:t>
            </a:r>
          </a:p>
          <a:p/>
          <a:p>
            <a:r>
              <a:t/>
            </a:r>
          </a:p>
          <a:p>
            <a:pPr algn="l"/>
            <a:r>
              <a:rPr b="1" i="1" sz="2000">
                <a:solidFill>
                  <a:srgbClr val="555555"/>
                </a:solidFill>
                <a:latin typeface="Segoe UI"/>
              </a:rPr>
              <a:t>Consumer Lag</a:t>
            </a:r>
            <a:r>
              <a:rPr b="0" i="1" sz="2000">
                <a:solidFill>
                  <a:srgbClr val="555555"/>
                </a:solidFill>
                <a:latin typeface="Segoe UI"/>
              </a:rPr>
              <a:t> = `LOG-END-OFFSET − CURRENT-OFFSET`</a:t>
            </a:r>
          </a:p>
          <a:p>
            <a:pPr algn="l"/>
            <a:r>
              <a:rPr b="0" i="1" sz="2000">
                <a:solidFill>
                  <a:srgbClr val="555555"/>
                </a:solidFill>
                <a:latin typeface="Segoe UI"/>
              </a:rPr>
              <a:t>❝ Growing lag → consumer can't keep up → alert!</a:t>
            </a:r>
          </a:p>
          <a:p>
            <a:pPr algn="l"/>
            <a:r>
              <a:rPr b="0" i="1" sz="2000">
                <a:solidFill>
                  <a:srgbClr val="555555"/>
                </a:solidFill>
                <a:latin typeface="Segoe UI"/>
              </a:rPr>
              <a:t>❝ Full observability in branch17 with Grafana dashboards.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sz="2200">
                <a:solidFill>
                  <a:srgbClr val="1A1A2E"/>
                </a:solidFill>
                <a:latin typeface="Segoe UI"/>
              </a:rPr>
              <a:t>Consumer Group</a:t>
            </a:r>
            <a:r>
              <a:rPr b="0" sz="2200">
                <a:solidFill>
                  <a:srgbClr val="1A1A2E"/>
                </a:solidFill>
                <a:latin typeface="Segoe UI"/>
              </a:rPr>
              <a:t> = horizontal scaling of Kafka reads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sz="2200">
                <a:solidFill>
                  <a:srgbClr val="1A1A2E"/>
                </a:solidFill>
                <a:latin typeface="Segoe UI"/>
              </a:rPr>
              <a:t>1 partition = 1 consumer</a:t>
            </a:r>
            <a:r>
              <a:rPr b="0" sz="2200">
                <a:solidFill>
                  <a:srgbClr val="1A1A2E"/>
                </a:solidFill>
                <a:latin typeface="Segoe UI"/>
              </a:rPr>
              <a:t> in a group — this is an iron guarantee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sz="2200">
                <a:solidFill>
                  <a:srgbClr val="1A1A2E"/>
                </a:solidFill>
                <a:latin typeface="Segoe UI"/>
              </a:rPr>
              <a:t>Rebalance</a:t>
            </a:r>
            <a:r>
              <a:rPr b="0" sz="2200">
                <a:solidFill>
                  <a:srgbClr val="1A1A2E"/>
                </a:solidFill>
                <a:latin typeface="Segoe UI"/>
              </a:rPr>
              <a:t> is inevitable when group membership changes — minimize with Static Membership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sz="2200">
                <a:solidFill>
                  <a:srgbClr val="1A1A2E"/>
                </a:solidFill>
                <a:latin typeface="Segoe UI"/>
              </a:rPr>
              <a:t>RangeAssignor</a:t>
            </a:r>
            <a:r>
              <a:rPr b="0" sz="2200">
                <a:solidFill>
                  <a:srgbClr val="1A1A2E"/>
                </a:solidFill>
                <a:latin typeface="Segoe UI"/>
              </a:rPr>
              <a:t> is the Spring Kafka default — uneven distribution with mismatched partition counts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sz="2200">
                <a:solidFill>
                  <a:srgbClr val="1A1A2E"/>
                </a:solidFill>
                <a:latin typeface="Segoe UI"/>
              </a:rPr>
              <a:t>RoundRobinAssignor</a:t>
            </a:r>
            <a:r>
              <a:rPr b="0" sz="2200">
                <a:solidFill>
                  <a:srgbClr val="1A1A2E"/>
                </a:solidFill>
                <a:latin typeface="Segoe UI"/>
              </a:rPr>
              <a:t> — more balanced when multiple topics have different partition counts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sz="2200">
                <a:solidFill>
                  <a:srgbClr val="1A1A2E"/>
                </a:solidFill>
                <a:latin typeface="Segoe UI"/>
              </a:rPr>
              <a:t>`ConsumerSeekAware`</a:t>
            </a:r>
            <a:r>
              <a:rPr b="0" sz="2200">
                <a:solidFill>
                  <a:srgbClr val="1A1A2E"/>
                </a:solidFill>
                <a:latin typeface="Segoe UI"/>
              </a:rPr>
              <a:t> — hook into ASSIGNED/REVOKED events to react to rebalance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sz="2200">
                <a:solidFill>
                  <a:srgbClr val="1A1A2E"/>
                </a:solidFill>
                <a:latin typeface="Segoe UI"/>
              </a:rPr>
              <a:t>Consumer Lag</a:t>
            </a:r>
            <a:r>
              <a:rPr b="0" sz="2200">
                <a:solidFill>
                  <a:srgbClr val="1A1A2E"/>
                </a:solidFill>
                <a:latin typeface="Segoe UI"/>
              </a:rPr>
              <a:t> = the primary health metric for consumer groups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sz="2200">
                <a:solidFill>
                  <a:srgbClr val="1A1A2E"/>
                </a:solidFill>
                <a:latin typeface="Segoe UI"/>
              </a:rPr>
              <a:t>`INSTANCE_ID`</a:t>
            </a:r>
            <a:r>
              <a:rPr b="0" sz="2200">
                <a:solidFill>
                  <a:srgbClr val="1A1A2E"/>
                </a:solidFill>
                <a:latin typeface="Segoe UI"/>
              </a:rPr>
              <a:t> env var — one image, many configurable instances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algn="l"/>
            <a:r>
              <a:rPr b="0" i="1" sz="2000">
                <a:solidFill>
                  <a:srgbClr val="555555"/>
                </a:solidFill>
                <a:latin typeface="Segoe UI"/>
              </a:rPr>
              <a:t>❝ Consumer Groups are Kafka's horizontal scaling primitive.</a:t>
            </a:r>
          </a:p>
          <a:p>
            <a:pPr algn="l"/>
            <a:r>
              <a:rPr b="0" i="1" sz="2000">
                <a:solidFill>
                  <a:srgbClr val="555555"/>
                </a:solidFill>
                <a:latin typeface="Segoe UI"/>
              </a:rPr>
              <a:t>❝ Design partition counts before deployment — they're hard to change later.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Segoe UI"/>
              </a:rPr>
              <a:t>What's Next — Branch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sz="2200">
                <a:solidFill>
                  <a:srgbClr val="0F3460"/>
                </a:solidFill>
                <a:latin typeface="Segoe UI"/>
              </a:rPr>
              <a:t>Multiple Consumer Groups</a:t>
            </a:r>
          </a:p>
          <a:p>
            <a:r>
              <a:t/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sz="2200">
                <a:solidFill>
                  <a:srgbClr val="1A1A2E"/>
                </a:solidFill>
                <a:latin typeface="Segoe UI"/>
              </a:rPr>
              <a:t>Two independent services read the </a:t>
            </a:r>
            <a:r>
              <a:rPr b="1" sz="2200">
                <a:solidFill>
                  <a:srgbClr val="1A1A2E"/>
                </a:solidFill>
                <a:latin typeface="Segoe UI"/>
              </a:rPr>
              <a:t>same</a:t>
            </a:r>
            <a:r>
              <a:rPr b="0" sz="2200">
                <a:solidFill>
                  <a:srgbClr val="1A1A2E"/>
                </a:solidFill>
                <a:latin typeface="Segoe UI"/>
              </a:rPr>
              <a:t> topic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sz="2200">
                <a:solidFill>
                  <a:srgbClr val="1A1A2E"/>
                </a:solidFill>
                <a:latin typeface="Segoe UI"/>
              </a:rPr>
              <a:t>`notification-service-group` and `analytics-service-group` — each with their own offset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sz="2200">
                <a:solidFill>
                  <a:srgbClr val="1A1A2E"/>
                </a:solidFill>
                <a:latin typeface="Segoe UI"/>
              </a:rPr>
              <a:t>Stop `analytics-service`, publish 10 events → analytics catches up on restart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sz="2200">
                <a:solidFill>
                  <a:srgbClr val="1A1A2E"/>
                </a:solidFill>
                <a:latin typeface="Segoe UI"/>
              </a:rPr>
              <a:t>Replay:</a:t>
            </a:r>
            <a:r>
              <a:rPr b="0" sz="2200">
                <a:solidFill>
                  <a:srgbClr val="1A1A2E"/>
                </a:solidFill>
                <a:latin typeface="Segoe UI"/>
              </a:rPr>
              <a:t> new consumer group reads the topic from the beginning (`earliest`)</a:t>
            </a:r>
          </a:p>
          <a:p>
            <a:pPr algn="l"/>
            <a:r>
              <a:rPr b="1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sz="2200">
                <a:solidFill>
                  <a:srgbClr val="1A1A2E"/>
                </a:solidFill>
                <a:latin typeface="Segoe UI"/>
              </a:rPr>
              <a:t>Independent scaling of each group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algn="l"/>
            <a:r>
              <a:rPr b="0" i="1" sz="2000">
                <a:solidFill>
                  <a:srgbClr val="555555"/>
                </a:solidFill>
                <a:latin typeface="Segoe UI"/>
              </a:rPr>
              <a:t>❝ Each consumer group gets its own independent view of every topic.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3200">
                <a:solidFill>
                  <a:srgbClr val="FFFFFF"/>
                </a:solidFill>
                <a:latin typeface="Segoe UI"/>
              </a:rPr>
              <a:t>What's Next — Branch 05</a:t>
            </a:r>
          </a:p>
          <a:p>
            <a:pPr algn="ctr"/>
            <a:r>
              <a:rPr b="0" sz="2200">
                <a:solidFill>
                  <a:srgbClr val="CCDDFF"/>
                </a:solidFill>
                <a:latin typeface="Segoe UI"/>
              </a:rPr>
              <a:t>Two services, one topic — independent offsets</a:t>
            </a:r>
          </a:p>
          <a:p>
            <a:pPr algn="ctr"/>
            <a:r>
              <a:rPr b="0" sz="2200">
                <a:solidFill>
                  <a:srgbClr val="CCDDFF"/>
                </a:solidFill>
                <a:latin typeface="Segoe UI"/>
              </a:rPr>
              <a:t>Stop one service, publish events, restart — it catches up</a:t>
            </a:r>
          </a:p>
          <a:p>
            <a:pPr algn="ctr"/>
            <a:r>
              <a:rPr b="0" sz="2200">
                <a:solidFill>
                  <a:srgbClr val="CCDDFF"/>
                </a:solidFill>
                <a:latin typeface="Segoe UI"/>
              </a:rPr>
              <a:t>Replay from earliest offset</a:t>
            </a:r>
          </a:p>
          <a:p>
            <a:pPr algn="ctr"/>
            <a:r>
              <a:rPr b="0" sz="2200">
                <a:solidFill>
                  <a:srgbClr val="CCDDFF"/>
                </a:solidFill>
                <a:latin typeface="Segoe UI"/>
              </a:rPr>
              <a:t>Scale each group independently</a:t>
            </a:r>
          </a:p>
          <a:p>
            <a:pPr algn="ctr"/>
            <a:r>
              <a:rPr b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sz="2400">
                <a:solidFill>
                  <a:srgbClr val="AACCFF"/>
                </a:solidFill>
                <a:latin typeface="Segoe UI"/>
              </a:rPr>
              <a:t>Branch 04 — Consumer Groups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