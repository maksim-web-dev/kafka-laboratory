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400">
                <a:solidFill>
                  <a:srgbClr val="FFFFFF"/>
                </a:solidFill>
              </a:rPr>
              <a:t>Branch 00</a:t>
            </a:r>
          </a:p>
          <a:p>
            <a:pPr algn="ctr"/>
            <a:r>
              <a:rPr b="1" sz="4400">
                <a:solidFill>
                  <a:srgbClr val="FFFFFF"/>
                </a:solidFill>
              </a:rPr>
              <a:t>Preparation &amp; Setup</a:t>
            </a:r>
          </a:p>
          <a:p>
            <a:pPr algn="ctr">
              <a:spcBef>
                <a:spcPts val="1800"/>
              </a:spcBef>
            </a:pPr>
            <a:r>
              <a:rPr b="1" sz="2400">
                <a:solidFill>
                  <a:srgbClr val="D4D4D4"/>
                </a:solidFill>
              </a:rPr>
              <a:t>Apache Kafka for Certification &amp;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1. Operating System requirements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2. Programming language choices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3. Docker Desktop — installation &amp; registration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4. Git &amp; GitHub — registration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5. IDE selection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6. Required tools: Gradle + Git + Docker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7. Step-by-step setup checklist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8. What's next — Branch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The course works on all major platforms: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Windows</a:t>
            </a:r>
            <a:r>
              <a:rPr sz="2200">
                <a:solidFill>
                  <a:srgbClr val="111111"/>
                </a:solidFill>
              </a:rPr>
              <a:t> — Docker Desktop + WSL2 recommended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Ubuntu</a:t>
            </a:r>
            <a:r>
              <a:rPr sz="2200">
                <a:solidFill>
                  <a:srgbClr val="111111"/>
                </a:solidFill>
              </a:rPr>
              <a:t> — native Docker Engine supported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CentOS</a:t>
            </a:r>
            <a:r>
              <a:rPr sz="2200">
                <a:solidFill>
                  <a:srgbClr val="111111"/>
                </a:solidFill>
              </a:rPr>
              <a:t> — native Docker Engine supported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macOS</a:t>
            </a:r>
            <a:r>
              <a:rPr sz="2200">
                <a:solidFill>
                  <a:srgbClr val="111111"/>
                </a:solidFill>
              </a:rPr>
              <a:t> — Docker Desktop (Intel &amp; Apple Silicon)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6588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356588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5732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All examples and commands in this course are verified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6020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16020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5164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Windows 11, Ubuntu 22.04, and macOS 14 (Sonoma).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Programming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Choose the language you know best: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Kotlin</a:t>
            </a:r>
            <a:r>
              <a:rPr sz="2200">
                <a:solidFill>
                  <a:srgbClr val="111111"/>
                </a:solidFill>
              </a:rPr>
              <a:t> — primary language used in all examples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Java</a:t>
            </a:r>
            <a:r>
              <a:rPr sz="2200">
                <a:solidFill>
                  <a:srgbClr val="111111"/>
                </a:solidFill>
              </a:rPr>
              <a:t> — all concepts apply 1:1 to Java Spring Boot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Python</a:t>
            </a:r>
            <a:r>
              <a:rPr sz="2200">
                <a:solidFill>
                  <a:srgbClr val="111111"/>
                </a:solidFill>
              </a:rPr>
              <a:t> — </a:t>
            </a:r>
            <a:r>
              <a:rPr sz="2000">
                <a:solidFill>
                  <a:srgbClr val="111111"/>
                </a:solidFill>
                <a:latin typeface="Courier New"/>
              </a:rPr>
              <a:t>confluent-kafka</a:t>
            </a:r>
            <a:r>
              <a:rPr sz="2200">
                <a:solidFill>
                  <a:srgbClr val="111111"/>
                </a:solidFill>
              </a:rPr>
              <a:t> library covers most topics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C#</a:t>
            </a:r>
            <a:r>
              <a:rPr sz="2200">
                <a:solidFill>
                  <a:srgbClr val="111111"/>
                </a:solidFill>
              </a:rPr>
              <a:t> — </a:t>
            </a:r>
            <a:r>
              <a:rPr sz="2000">
                <a:solidFill>
                  <a:srgbClr val="111111"/>
                </a:solidFill>
                <a:latin typeface="Courier New"/>
              </a:rPr>
              <a:t>Confluent.Kafka</a:t>
            </a:r>
            <a:r>
              <a:rPr sz="2200">
                <a:solidFill>
                  <a:srgbClr val="111111"/>
                </a:solidFill>
              </a:rPr>
              <a:t> NuGet package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Others</a:t>
            </a:r>
            <a:r>
              <a:rPr sz="2200">
                <a:solidFill>
                  <a:srgbClr val="111111"/>
                </a:solidFill>
              </a:rPr>
              <a:t> — any language with a Kafka client library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88588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388588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7732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Code examples are in </a:t>
            </a:r>
            <a:r>
              <a:rPr b="1" sz="2000" i="1">
                <a:solidFill>
                  <a:srgbClr val="16213E"/>
                </a:solidFill>
              </a:rPr>
              <a:t>Kotlin + Spring Boot</a:t>
            </a:r>
            <a:r>
              <a:rPr sz="2000" i="1">
                <a:solidFill>
                  <a:srgbClr val="16213E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48020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48020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164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The Kafka concepts and configuration are </a:t>
            </a:r>
            <a:r>
              <a:rPr b="1" sz="2000" i="1">
                <a:solidFill>
                  <a:srgbClr val="16213E"/>
                </a:solidFill>
              </a:rPr>
              <a:t>language-agnostic</a:t>
            </a:r>
            <a:r>
              <a:rPr sz="2000" i="1">
                <a:solidFill>
                  <a:srgbClr val="16213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Docker Desktop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Step 1 — Register on Docker Hub: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5880"/>
            <a:ext cx="11091672" cy="1005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2304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https://hub.docker.com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Sign Up (free account)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Verify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3160"/>
            <a:ext cx="11091672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Step 2 — Download Docker Desktop: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43160"/>
            <a:ext cx="11091672" cy="1234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80320"/>
            <a:ext cx="1090879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https://www.docker.com/products/docker-desktop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Choose your OS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Install &amp; launch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Sign In with Docker Hub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69040"/>
            <a:ext cx="110916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6904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496904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6048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Docker Desktop includes: Docker Engine, Docker Compose, Docker CLI.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6336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556336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5480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Everything needed to run Kafka locally is bundled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Git &amp; GitHub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Step 1 — Register on GitHub: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5880"/>
            <a:ext cx="11091672" cy="1005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2304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https://github.com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Sign Up (free account)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  → Verify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3160"/>
            <a:ext cx="11091672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Step 2 — Install Git locally: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43160"/>
            <a:ext cx="11091672" cy="1920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80320"/>
            <a:ext cx="109087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# Windows: https://git-scm.com/download/win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# Ubuntu / CentOS: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sudo apt install git        # Ubuntu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sudo yum install git        # CentOS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# macOS: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brew install 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4840"/>
            <a:ext cx="110916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5484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565484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4628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Git is required to clone the course repository and switch between branches.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IDE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Pick the IDE you are comfortable with: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IntelliJ IDEA</a:t>
            </a:r>
            <a:r>
              <a:rPr sz="2200">
                <a:solidFill>
                  <a:srgbClr val="111111"/>
                </a:solidFill>
              </a:rPr>
              <a:t> </a:t>
            </a:r>
            <a:r>
              <a:rPr i="1" sz="2000">
                <a:solidFill>
                  <a:srgbClr val="666666"/>
                </a:solidFill>
              </a:rPr>
              <a:t>(recommended for Kotlin/Java)</a:t>
            </a:r>
          </a:p>
          <a:p>
            <a:pPr>
              <a:spcBef>
                <a:spcPts val="200"/>
              </a:spcBef>
            </a:pPr>
            <a:r>
              <a:rPr sz="2000">
                <a:solidFill>
                  <a:srgbClr val="111111"/>
                </a:solidFill>
              </a:rPr>
              <a:t>    ◦ Community Edition — free, sufficient for this course</a:t>
            </a:r>
          </a:p>
          <a:p>
            <a:pPr>
              <a:spcBef>
                <a:spcPts val="200"/>
              </a:spcBef>
            </a:pPr>
            <a:r>
              <a:rPr sz="2000">
                <a:solidFill>
                  <a:srgbClr val="111111"/>
                </a:solidFill>
              </a:rPr>
              <a:t>    ◦ Ultimate Edition — paid, extra framework support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Eclipse</a:t>
            </a:r>
            <a:r>
              <a:rPr sz="2200">
                <a:solidFill>
                  <a:srgbClr val="111111"/>
                </a:solidFill>
              </a:rPr>
              <a:t> — free, good Java support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Visual Studio Code</a:t>
            </a:r>
            <a:r>
              <a:rPr sz="2200">
                <a:solidFill>
                  <a:srgbClr val="111111"/>
                </a:solidFill>
              </a:rPr>
              <a:t> — free, lightweight, multi-language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WebStorm / PyCharm</a:t>
            </a:r>
            <a:r>
              <a:rPr sz="2200">
                <a:solidFill>
                  <a:srgbClr val="111111"/>
                </a:solidFill>
              </a:rPr>
              <a:t> — JetBrains IDEs for JS / Python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20588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420588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9732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IntelliJ IDEA Community Edition is used in all video demos.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0020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80020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164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Gradle and Git plugins are </a:t>
            </a:r>
            <a:r>
              <a:rPr b="1" sz="2000" i="1">
                <a:solidFill>
                  <a:srgbClr val="16213E"/>
                </a:solidFill>
              </a:rPr>
              <a:t>built-in</a:t>
            </a:r>
            <a:r>
              <a:rPr sz="2000" i="1">
                <a:solidFill>
                  <a:srgbClr val="16213E"/>
                </a:solidFill>
              </a:rPr>
              <a:t> — no extra configuration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Required Tools —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Everything you need before Branch 01: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5880"/>
            <a:ext cx="11091672" cy="1463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23040"/>
            <a:ext cx="109087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✓  Docker Desktop  — running &amp; signed in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✓  Git             — installed &amp; configured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✓  IDE             — installed with Gradle support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✓  Docker Hub      — account created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✓  GitHub          — account created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40360"/>
            <a:ext cx="11091672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Verify Docker is working:</a:t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300360"/>
            <a:ext cx="11091672" cy="1005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43752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4D4D4"/>
                </a:solidFill>
                <a:latin typeface="Courier New"/>
              </a:rPr>
              <a:t>docker --version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docker compose version</a:t>
            </a:r>
          </a:p>
          <a:p>
            <a:r>
              <a:rPr sz="1600">
                <a:solidFill>
                  <a:srgbClr val="D4D4D4"/>
                </a:solidFill>
                <a:latin typeface="Courier New"/>
              </a:rPr>
              <a:t>docker run hello-world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7640"/>
            <a:ext cx="110916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9764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549764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8908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If </a:t>
            </a:r>
            <a:r>
              <a:rPr sz="2000" i="1">
                <a:solidFill>
                  <a:srgbClr val="16213E"/>
                </a:solidFill>
                <a:latin typeface="Courier New"/>
              </a:rPr>
              <a:t>hello-world</a:t>
            </a:r>
            <a:r>
              <a:rPr sz="2000" i="1">
                <a:solidFill>
                  <a:srgbClr val="16213E"/>
                </a:solidFill>
              </a:rPr>
              <a:t> prints "Hello from Docker!" — you are ready to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Step-by-Step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800"/>
              </a:spcBef>
            </a:pPr>
            <a:r>
              <a:rPr b="1" sz="2400">
                <a:solidFill>
                  <a:srgbClr val="16213E"/>
                </a:solidFill>
              </a:rPr>
              <a:t>Follow in this order to avoid dependency issues: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1. </a:t>
            </a:r>
            <a:r>
              <a:rPr b="1" sz="2200">
                <a:solidFill>
                  <a:srgbClr val="111111"/>
                </a:solidFill>
              </a:rPr>
              <a:t>Create Docker Hub account</a:t>
            </a:r>
            <a:r>
              <a:rPr sz="2200">
                <a:solidFill>
                  <a:srgbClr val="111111"/>
                </a:solidFill>
              </a:rPr>
              <a:t> — needed before installing Docker Desktop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2. </a:t>
            </a:r>
            <a:r>
              <a:rPr b="1" sz="2200">
                <a:solidFill>
                  <a:srgbClr val="111111"/>
                </a:solidFill>
              </a:rPr>
              <a:t>Install Docker Desktop</a:t>
            </a:r>
            <a:r>
              <a:rPr sz="2200">
                <a:solidFill>
                  <a:srgbClr val="111111"/>
                </a:solidFill>
              </a:rPr>
              <a:t> — sign in with Docker Hub credentials on first launch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3. </a:t>
            </a:r>
            <a:r>
              <a:rPr b="1" sz="2200">
                <a:solidFill>
                  <a:srgbClr val="111111"/>
                </a:solidFill>
              </a:rPr>
              <a:t>Create GitHub account</a:t>
            </a:r>
            <a:r>
              <a:rPr sz="2200">
                <a:solidFill>
                  <a:srgbClr val="111111"/>
                </a:solidFill>
              </a:rPr>
              <a:t> — needed to clone the repository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4. </a:t>
            </a:r>
            <a:r>
              <a:rPr b="1" sz="2200">
                <a:solidFill>
                  <a:srgbClr val="111111"/>
                </a:solidFill>
              </a:rPr>
              <a:t>Install Git</a:t>
            </a:r>
            <a:r>
              <a:rPr sz="2200">
                <a:solidFill>
                  <a:srgbClr val="111111"/>
                </a:solidFill>
              </a:rPr>
              <a:t> — configure </a:t>
            </a:r>
            <a:r>
              <a:rPr sz="2000">
                <a:solidFill>
                  <a:srgbClr val="111111"/>
                </a:solidFill>
                <a:latin typeface="Courier New"/>
              </a:rPr>
              <a:t>user.name</a:t>
            </a:r>
            <a:r>
              <a:rPr sz="2200">
                <a:solidFill>
                  <a:srgbClr val="111111"/>
                </a:solidFill>
              </a:rPr>
              <a:t> and </a:t>
            </a:r>
            <a:r>
              <a:rPr sz="2000">
                <a:solidFill>
                  <a:srgbClr val="111111"/>
                </a:solidFill>
                <a:latin typeface="Courier New"/>
              </a:rPr>
              <a:t>user.email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5. </a:t>
            </a:r>
            <a:r>
              <a:rPr b="1" sz="2200">
                <a:solidFill>
                  <a:srgbClr val="111111"/>
                </a:solidFill>
              </a:rPr>
              <a:t>Install IDE</a:t>
            </a:r>
            <a:r>
              <a:rPr sz="2200">
                <a:solidFill>
                  <a:srgbClr val="111111"/>
                </a:solidFill>
              </a:rPr>
              <a:t> — open project, let Gradle sync finish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88588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388588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7732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 i="1">
                <a:solidFill>
                  <a:srgbClr val="16213E"/>
                </a:solidFill>
              </a:rPr>
              <a:t>Common pitfall:</a:t>
            </a:r>
            <a:r>
              <a:rPr sz="2000" i="1">
                <a:solidFill>
                  <a:srgbClr val="16213E"/>
                </a:solidFill>
              </a:rPr>
              <a:t> Docker Desktop requires WSL2 on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48020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48020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164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Enable it via </a:t>
            </a:r>
            <a:r>
              <a:rPr sz="2000" i="1">
                <a:solidFill>
                  <a:srgbClr val="16213E"/>
                </a:solidFill>
                <a:latin typeface="Courier New"/>
              </a:rPr>
              <a:t>wsl --install</a:t>
            </a:r>
            <a:r>
              <a:rPr sz="2000" i="1">
                <a:solidFill>
                  <a:srgbClr val="16213E"/>
                </a:solidFill>
              </a:rPr>
              <a:t> before installing Docker Desktop.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Docker Desktop</a:t>
            </a:r>
            <a:r>
              <a:rPr sz="2200">
                <a:solidFill>
                  <a:srgbClr val="111111"/>
                </a:solidFill>
              </a:rPr>
              <a:t> is the single tool that runs Kafka, Zookeeper, and all services locally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Git</a:t>
            </a:r>
            <a:r>
              <a:rPr sz="2200">
                <a:solidFill>
                  <a:srgbClr val="111111"/>
                </a:solidFill>
              </a:rPr>
              <a:t> is required to navigate between the 19+ course branches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Kotlin + Spring Boot</a:t>
            </a:r>
            <a:r>
              <a:rPr sz="2200">
                <a:solidFill>
                  <a:srgbClr val="111111"/>
                </a:solidFill>
              </a:rPr>
              <a:t> is the primary stack; all patterns apply to Java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IntelliJ IDEA Community</a:t>
            </a:r>
            <a:r>
              <a:rPr sz="2200">
                <a:solidFill>
                  <a:srgbClr val="111111"/>
                </a:solidFill>
              </a:rPr>
              <a:t> is free and sufficient for the entire course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Docker Hub</a:t>
            </a:r>
            <a:r>
              <a:rPr sz="2200">
                <a:solidFill>
                  <a:srgbClr val="111111"/>
                </a:solidFill>
              </a:rPr>
              <a:t> registration is needed before Docker Desktop sign-in</a:t>
            </a:r>
          </a:p>
          <a:p>
            <a:pPr>
              <a:spcBef>
                <a:spcPts val="300"/>
              </a:spcBef>
            </a:pPr>
            <a:r>
              <a:rPr sz="2200">
                <a:solidFill>
                  <a:srgbClr val="111111"/>
                </a:solidFill>
              </a:rPr>
              <a:t>• </a:t>
            </a:r>
            <a:r>
              <a:rPr b="1" sz="2200">
                <a:solidFill>
                  <a:srgbClr val="111111"/>
                </a:solidFill>
              </a:rPr>
              <a:t>WSL2</a:t>
            </a:r>
            <a:r>
              <a:rPr sz="2200">
                <a:solidFill>
                  <a:srgbClr val="111111"/>
                </a:solidFill>
              </a:rPr>
              <a:t> is required on Windows — install it first</a:t>
            </a:r>
          </a:p>
          <a:p>
            <a:pPr>
              <a:spcBef>
                <a:spcPts val="400"/>
              </a:spcBef>
            </a:pPr>
            <a:r>
              <a:t/>
            </a:r>
          </a:p>
          <a:p>
            <a:pPr>
              <a:spcBef>
                <a:spcPts val="1000"/>
              </a:spcBef>
            </a:pPr>
            <a:r>
              <a:t/>
            </a:r>
          </a:p>
          <a:p>
            <a:pPr>
              <a:spcBef>
                <a:spcPts val="400"/>
              </a:spcBef>
            </a:pPr>
            <a: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4588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374588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3732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The setup takes ~20 minutes.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340200"/>
            <a:ext cx="73152" cy="5028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4340200"/>
            <a:ext cx="11018520" cy="5028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31640"/>
            <a:ext cx="10771632" cy="41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16213E"/>
                </a:solidFill>
              </a:rPr>
              <a:t>Once done, every branch runs with a single </a:t>
            </a:r>
            <a:r>
              <a:rPr sz="2000" i="1">
                <a:solidFill>
                  <a:srgbClr val="16213E"/>
                </a:solidFill>
                <a:latin typeface="Courier New"/>
              </a:rPr>
              <a:t>docker compose up --build</a:t>
            </a:r>
            <a:r>
              <a:rPr sz="2000" i="1">
                <a:solidFill>
                  <a:srgbClr val="16213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400">
                <a:solidFill>
                  <a:srgbClr val="FFFFFF"/>
                </a:solidFill>
              </a:rPr>
              <a:t>Questions?</a:t>
            </a:r>
          </a:p>
          <a:p>
            <a:pPr algn="ctr"/>
            <a:r>
              <a:rPr b="1" sz="3600">
                <a:solidFill>
                  <a:srgbClr val="FFFFFF"/>
                </a:solidFill>
              </a:rPr>
              <a:t>What's Next — Branch 01</a:t>
            </a:r>
          </a:p>
          <a:p>
            <a:pPr algn="ctr">
              <a:spcBef>
                <a:spcPts val="1800"/>
              </a:spcBef>
            </a:pPr>
            <a:r>
              <a:rPr b="1" sz="2400">
                <a:solidFill>
                  <a:srgbClr val="D4D4D4"/>
                </a:solidFill>
              </a:rPr>
              <a:t>Basic Producer &amp; Consumer</a:t>
            </a:r>
          </a:p>
          <a:p>
            <a:pPr algn="ctr">
              <a:spcBef>
                <a:spcPts val="1800"/>
              </a:spcBef>
            </a:pPr>
            <a:r>
              <a:rPr b="1" sz="2400">
                <a:solidFill>
                  <a:srgbClr val="D4D4D4"/>
                </a:solidFill>
              </a:rPr>
              <a:t>Branch 00 — Preparation &amp; Setup</a:t>
            </a:r>
          </a:p>
          <a:p>
            <a:pPr algn="ctr"/>
            <a:r>
              <a:rPr i="1" sz="2000">
                <a:solidFill>
                  <a:srgbClr val="D4D4D4"/>
                </a:solidFill>
              </a:rPr>
              <a:t>Apache Kafka for Certification &amp;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